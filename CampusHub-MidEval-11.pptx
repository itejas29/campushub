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6a68a7-07ff-168f-1fba-f75e362f3981}">
          <p14:sldIdLst>
            <p14:sldId id="256"/>
          </p14:sldIdLst>
        </p14:section>
        <p14:section name="System Architecture" id="{436da624-5598-fe42-0c67-ca143d0f8050}">
          <p14:sldIdLst>
            <p14:sldId id="257"/>
          </p14:sldIdLst>
        </p14:section>
        <p14:section name="Features" id="{67f048bb-1dd2-5b95-7a4a-5d6a13c1d9d4}">
          <p14:sldIdLst>
            <p14:sldId id="258"/>
            <p14:sldId id="259"/>
            <p14:sldId id="260"/>
          </p14:sldIdLst>
        </p14:section>
        <p14:section name="User Roles &amp; Workflow" id="{b553d141-1771-73ba-a349-f4322f9e13d9}">
          <p14:sldIdLst>
            <p14:sldId id="261"/>
            <p14:sldId id="262"/>
            <p14:sldId id="263"/>
          </p14:sldIdLst>
        </p14:section>
        <p14:section name="Security" id="{61beddd0-b4b5-abc6-49b1-9035bdbc271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3A5F"/>
                </a:solidFill>
                <a:latin typeface="+mn-lt"/>
              </a:defRPr>
            </a:pPr>
            <a:r>
              <a:rPr sz="1300" b="0" i="0" u="none" strike="noStrike">
                <a:solidFill>
                  <a:srgbClr val="1E3A5F"/>
                </a:solidFill>
                <a:latin typeface="+mn-lt"/>
              </a:rPr>
              <a:t>Open Elective: students per section, by demand</a:t>
            </a:r>
          </a:p>
        </c:rich>
      </c:tx>
      <c:layout/>
      <c:overlay val="0"/>
    </c:title>
    <c:autoTitleDeleted val="0"/>
    <c:plotArea>
      <c:layout/>
      <c:barChart>
        <c:barDir val="col"/>
        <c:grouping val="stacked"/>
        <c:varyColors val="0"/>
        <c:ser>
          <c:idx val="0"/>
          <c:order val="0"/>
          <c:tx>
            <c:strRef>
              <c:f>Sheet1!$B$1</c:f>
              <c:strCache>
                <c:ptCount val="1"/>
                <c:pt idx="0">
                  <c:v>Section A</c:v>
                </c:pt>
              </c:strCache>
            </c:strRef>
          </c:tx>
          <c:spPr>
            <a:solidFill>
              <a:srgbClr val="1E3A5F"/>
            </a:solidFill>
            <a:effectLst/>
          </c:spPr>
          <c:invertIfNegative val="0"/>
          <c:dLbls>
            <c:numFmt formatCode="#;;"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38</c:v>
                  </c:pt>
                  <c:pt idx="1">
                    <c:v>60</c:v>
                  </c:pt>
                  <c:pt idx="2">
                    <c:v>90</c:v>
                  </c:pt>
                  <c:pt idx="3">
                    <c:v>150</c:v>
                  </c:pt>
                  <c:pt idx="4">
                    <c:v>151</c:v>
                  </c:pt>
                </c:lvl>
              </c:multiLvlStrCache>
            </c:multiLvlStrRef>
          </c:cat>
          <c:val>
            <c:numRef>
              <c:f>Sheet1!$B$2:$B$6</c:f>
              <c:numCache>
                <c:formatCode>General</c:formatCode>
                <c:ptCount val="5"/>
                <c:pt idx="0">
                  <c:v>0</c:v>
                </c:pt>
                <c:pt idx="1">
                  <c:v>60</c:v>
                </c:pt>
                <c:pt idx="2">
                  <c:v>75</c:v>
                </c:pt>
                <c:pt idx="3">
                  <c:v>75</c:v>
                </c:pt>
                <c:pt idx="4">
                  <c:v>75</c:v>
                </c:pt>
              </c:numCache>
            </c:numRef>
          </c:val>
        </c:ser>
        <c:ser>
          <c:idx val="1"/>
          <c:order val="1"/>
          <c:tx>
            <c:strRef>
              <c:f>Sheet1!$C$1</c:f>
              <c:strCache>
                <c:ptCount val="1"/>
                <c:pt idx="0">
                  <c:v>Section B</c:v>
                </c:pt>
              </c:strCache>
            </c:strRef>
          </c:tx>
          <c:spPr>
            <a:solidFill>
              <a:srgbClr val="2563EB"/>
            </a:solidFill>
            <a:effectLst/>
          </c:spPr>
          <c:invertIfNegative val="0"/>
          <c:dLbls>
            <c:numFmt formatCode="#;;"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38</c:v>
                  </c:pt>
                  <c:pt idx="1">
                    <c:v>60</c:v>
                  </c:pt>
                  <c:pt idx="2">
                    <c:v>90</c:v>
                  </c:pt>
                  <c:pt idx="3">
                    <c:v>150</c:v>
                  </c:pt>
                  <c:pt idx="4">
                    <c:v>151</c:v>
                  </c:pt>
                </c:lvl>
              </c:multiLvlStrCache>
            </c:multiLvlStrRef>
          </c:cat>
          <c:val>
            <c:numRef>
              <c:f>Sheet1!$C$2:$C$6</c:f>
              <c:numCache>
                <c:formatCode>General</c:formatCode>
                <c:ptCount val="5"/>
                <c:pt idx="0">
                  <c:v>0</c:v>
                </c:pt>
                <c:pt idx="1">
                  <c:v>0</c:v>
                </c:pt>
                <c:pt idx="2">
                  <c:v>15</c:v>
                </c:pt>
                <c:pt idx="3">
                  <c:v>75</c:v>
                </c:pt>
                <c:pt idx="4">
                  <c:v>75</c:v>
                </c:pt>
              </c:numCache>
            </c:numRef>
          </c:val>
        </c:ser>
        <c:ser>
          <c:idx val="2"/>
          <c:order val="2"/>
          <c:tx>
            <c:strRef>
              <c:f>Sheet1!$D$1</c:f>
              <c:strCache>
                <c:ptCount val="1"/>
                <c:pt idx="0">
                  <c:v>Section C</c:v>
                </c:pt>
              </c:strCache>
            </c:strRef>
          </c:tx>
          <c:spPr>
            <a:solidFill>
              <a:srgbClr val="0E7490"/>
            </a:solidFill>
            <a:effectLst/>
          </c:spPr>
          <c:invertIfNegative val="0"/>
          <c:dLbls>
            <c:numFmt formatCode="#;;"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38</c:v>
                  </c:pt>
                  <c:pt idx="1">
                    <c:v>60</c:v>
                  </c:pt>
                  <c:pt idx="2">
                    <c:v>90</c:v>
                  </c:pt>
                  <c:pt idx="3">
                    <c:v>150</c:v>
                  </c:pt>
                  <c:pt idx="4">
                    <c:v>151</c:v>
                  </c:pt>
                </c:lvl>
              </c:multiLvlStrCache>
            </c:multiLvlStrRef>
          </c:cat>
          <c:val>
            <c:numRef>
              <c:f>Sheet1!$D$2:$D$6</c:f>
              <c:numCache>
                <c:formatCode>General</c:formatCode>
                <c:ptCount val="5"/>
                <c:pt idx="0">
                  <c:v>0</c:v>
                </c:pt>
                <c:pt idx="1">
                  <c:v>0</c:v>
                </c:pt>
                <c:pt idx="2">
                  <c:v>0</c:v>
                </c:pt>
                <c:pt idx="3">
                  <c:v>0</c:v>
                </c:pt>
                <c:pt idx="4">
                  <c:v>1</c:v>
                </c:pt>
              </c:numCache>
            </c:numRef>
          </c:val>
        </c:ser>
        <c:dLbls>
          <c:numFmt formatCode="#;;"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64748B"/>
                    </a:solidFill>
                    <a:latin typeface="+mn-lt"/>
                  </a:defRPr>
                </a:pPr>
                <a:r>
                  <a:rPr sz="1100" b="0" i="0" u="none" strike="noStrike">
                    <a:solidFill>
                      <a:srgbClr val="64748B"/>
                    </a:solidFill>
                    <a:latin typeface="+mn-lt"/>
                  </a:rPr>
                  <a:t>Students who chose the course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CampusHub is a single web portal for PDEU students, faculty and administrators. Everything in this deck is taken from the repository (github.com/itejas29/CampusHub); each feature and security control is tagged as implemented, partial or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production-style compose, nginx serves the built React bundle and proxies /api to the backend so the browser sees one origin. Business code references files.id only, so switching local disk to S3 is a configuration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modules are implemented end to end (API + UI). The two lines at the bottom list what is only partly built and what is planned but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lifecycle: the student-facing state is derived from the round, the clock and the student's rows. Every write calls assert_can_submit(); a stale tab gets HTTP 409. Section planning fills each section before opening the next: 90 becomes 75 + 15. Core Electives count the 40 minimum across all divisions combined and have no ceiling. CPI is never an input to elective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internship programmes run on the engine: CSSI ×6, Rural ×1 (Petroleum), Summer ×7, Industrial Training ×2. Stages rows are the progress stepper; evaluation_criteria rows are the evaluation form. Industry-mentor marks are flagged external; there is no external portal yet, so faculty record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straight from ROLE_PERMISSIONS. Full = manage-level permission; Limited = read, apply, submit or mentor-level. SUPER_ADMIN holds '*', which expands to every permission. FACULTY deliberately does not hold reports:view because the admin dashboard's activity panel is drawn from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faculty_role_assignments rows make 'Summer Internship coordinator for ICT' a different authority from the same module in CSE, and from CSSI in ICT. A NULL department means institution-wide. Coordinator and Mentor are independent grants. Only an administrator grants coordination, and every grant/revoke is audit-logged.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grants the coordinator role. The coordinator configures the programme, creates groups and assigns mentors (overrides are audited). Students enrol and submit stages, documents and weekly reports. Mentors review with verify/reject and fill the rubric. The coordinator oversees evaluation; the student sees progress and notifications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returns the same message for an unknown email and a wrong password, so accounts cannot be enumerated. Tokens carry a type claim; a refresh token used as an access token is rejected (tested). Gate 3 lives in the services: a student sees only their own records, a mentor only their own mentees, and a coordinator only the module and department they were granted. The frontend route guards are convenience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found and fixed two real holes: uploads were served from a public /media mount (anyone who guessed a key could read certificates without logging in), and GET /files/{id} had no authorisation (an IDOR). Both are closed and covered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security-focused test functions: test_api_security.py (23), test_file_security.py (16), test_rbac.py (12), test_security.py (8). The first five gaps are listed in the project's own Phase 4 report; token storage, security headers and the default secret are observations from reading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337560"/>
            <a:ext cx="1069848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CampusHub · Mid-Evaluation</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6000" b="1" dirty="0">
                <a:solidFill>
                  <a:schemeClr val="bg1"/>
                </a:solidFill>
              </a:rPr>
              <a:t>CampusHub</a:t>
            </a:r>
            <a:endParaRPr lang="en-US" sz="6000" dirty="0"/>
          </a:p>
        </p:txBody>
      </p:sp>
      <p:sp>
        <p:nvSpPr>
          <p:cNvPr id="3" name="Text 0"/>
          <p:cNvSpPr/>
          <p:nvPr>
            <p:ph idx="101" type="body" hasCustomPrompt="1"/>
          </p:nvPr>
        </p:nvSpPr>
        <p:spPr>
          <a:xfrm>
            <a:off x="731520" y="3337560"/>
            <a:ext cx="10698480" cy="1097280"/>
          </a:xfrm>
          <a:prstGeom prst="rect">
            <a:avLst/>
          </a:prstGeom>
          <a:noFill/>
          <a:ln/>
        </p:spPr>
        <p:txBody>
          <a:bodyPr wrap="square" lIns="0" tIns="0" rIns="0" bIns="0" rtlCol="0" anchor="t"/>
          <a:lstStyle/>
          <a:p>
            <a:pPr indent="0" marL="0">
              <a:buNone/>
            </a:pPr>
            <a:r>
              <a:rPr lang="en-US" sz="2200" dirty="0">
                <a:solidFill>
                  <a:schemeClr val="bg2"/>
                </a:solidFill>
              </a:rPr>
              <a:t>Centralised Student Portal for PDEU — Mid-Evaluation</a:t>
            </a:r>
            <a:endParaRPr lang="en-US" sz="2200" dirty="0"/>
          </a:p>
          <a:p>
            <a:pPr indent="0" marL="0">
              <a:buNone/>
            </a:pPr>
            <a:r>
              <a:rPr lang="en-US" sz="1600" dirty="0">
                <a:solidFill>
                  <a:srgbClr val="CADCFC"/>
                </a:solidFill>
              </a:rPr>
              <a:t>Features · System Architecture · User Roles &amp; Workflow · Security</a:t>
            </a:r>
            <a:endParaRPr lang="en-US" sz="2200" dirty="0"/>
          </a:p>
        </p:txBody>
      </p:sp>
      <p:sp>
        <p:nvSpPr>
          <p:cNvPr id="4" name="Text 2"/>
          <p:cNvSpPr txBox="1"/>
          <p:nvPr/>
        </p:nvSpPr>
        <p:spPr>
          <a:xfrm>
            <a:off x="731520" y="4617720"/>
            <a:ext cx="7315200" cy="274320"/>
          </a:xfrm>
          <a:prstGeom prst="rect">
            <a:avLst/>
          </a:prstGeom>
          <a:noFill/>
          <a:ln/>
        </p:spPr>
        <p:txBody>
          <a:bodyPr wrap="square" lIns="0" tIns="0" rIns="0" bIns="0" rtlCol="0" anchor="ctr"/>
          <a:lstStyle/>
          <a:p>
            <a:pPr indent="0" marL="0">
              <a:buNone/>
            </a:pPr>
            <a:r>
              <a:rPr lang="en-US" sz="1200" b="1" spc="200" kern="0" dirty="0">
                <a:solidFill>
                  <a:srgbClr val="CADCFC"/>
                </a:solidFill>
              </a:rPr>
              <a:t>PROJECT SUPERVISORS</a:t>
            </a:r>
            <a:endParaRPr lang="en-US" sz="1200" dirty="0"/>
          </a:p>
        </p:txBody>
      </p:sp>
      <p:sp>
        <p:nvSpPr>
          <p:cNvPr id="5" name="Text 3"/>
          <p:cNvSpPr txBox="1"/>
          <p:nvPr/>
        </p:nvSpPr>
        <p:spPr>
          <a:xfrm>
            <a:off x="731520" y="4919472"/>
            <a:ext cx="10058400" cy="411480"/>
          </a:xfrm>
          <a:prstGeom prst="rect">
            <a:avLst/>
          </a:prstGeom>
          <a:noFill/>
          <a:ln/>
        </p:spPr>
        <p:txBody>
          <a:bodyPr wrap="square" lIns="0" tIns="0" rIns="0" bIns="0" rtlCol="0" anchor="ctr"/>
          <a:lstStyle/>
          <a:p>
            <a:pPr indent="0" marL="0">
              <a:buNone/>
            </a:pPr>
            <a:r>
              <a:rPr lang="en-US" sz="2000" b="1" dirty="0">
                <a:solidFill>
                  <a:schemeClr val="bg1"/>
                </a:solidFill>
              </a:rPr>
              <a:t>Dr. Deepak Sharma     ·     Dr. Abhishek S. Kumar</a:t>
            </a:r>
            <a:endParaRPr lang="en-US" sz="2000" dirty="0"/>
          </a:p>
        </p:txBody>
      </p:sp>
      <p:sp>
        <p:nvSpPr>
          <p:cNvPr id="6" name="Text 4"/>
          <p:cNvSpPr txBox="1"/>
          <p:nvPr/>
        </p:nvSpPr>
        <p:spPr>
          <a:xfrm>
            <a:off x="731520" y="5669280"/>
            <a:ext cx="10698480" cy="365760"/>
          </a:xfrm>
          <a:prstGeom prst="rect">
            <a:avLst/>
          </a:prstGeom>
          <a:noFill/>
          <a:ln/>
        </p:spPr>
        <p:txBody>
          <a:bodyPr wrap="square" lIns="0" tIns="0" rIns="0" bIns="0" rtlCol="0" anchor="ctr"/>
          <a:lstStyle/>
          <a:p>
            <a:pPr indent="0" marL="0">
              <a:buNone/>
            </a:pPr>
            <a:r>
              <a:rPr lang="en-US" sz="1400" dirty="0">
                <a:solidFill>
                  <a:schemeClr val="bg2"/>
                </a:solidFill>
              </a:rPr>
              <a:t>React 18 + TypeScript   ·   FastAPI   ·   PostgreSQL 16   ·   Docker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Three-tier architecture</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A single-page React app talks to a FastAPI backend through nginx; PostgreSQL holds all state</a:t>
            </a:r>
            <a:endParaRPr lang="en-US" sz="1600" dirty="0"/>
          </a:p>
        </p:txBody>
      </p:sp>
      <p:sp>
        <p:nvSpPr>
          <p:cNvPr id="5" name="client-zone-1"/>
          <p:cNvSpPr txBox="1"/>
          <p:nvPr/>
        </p:nvSpPr>
        <p:spPr>
          <a:xfrm>
            <a:off x="548640" y="1737360"/>
            <a:ext cx="2468880" cy="3291840"/>
          </a:xfrm>
          <a:prstGeom prst="roundRect">
            <a:avLst>
              <a:gd name="adj" fmla="val 2963"/>
            </a:avLst>
          </a:prstGeom>
          <a:solidFill>
            <a:schemeClr val="bg2"/>
          </a:solidFill>
          <a:ln/>
        </p:spPr>
        <p:txBody>
          <a:bodyPr wrap="square" lIns="50800" tIns="50800" rIns="50800" bIns="50800" rtlCol="0" anchor="ctr"/>
          <a:lstStyle/>
          <a:p>
            <a:pPr algn="ctr" indent="0" marL="0">
              <a:buNone/>
            </a:pPr>
            <a:endParaRPr lang="en-US" sz="1400" dirty="0"/>
          </a:p>
        </p:txBody>
      </p:sp>
      <p:sp>
        <p:nvSpPr>
          <p:cNvPr id="6" name="icondot-2"/>
          <p:cNvSpPr/>
          <p:nvPr/>
        </p:nvSpPr>
        <p:spPr>
          <a:xfrm>
            <a:off x="1417320" y="1874520"/>
            <a:ext cx="731520" cy="731520"/>
          </a:xfrm>
          <a:prstGeom prst="ellipse">
            <a:avLst/>
          </a:prstGeom>
          <a:solidFill>
            <a:schemeClr val="accent1"/>
          </a:solidFill>
          <a:ln w="12700">
            <a:solidFill>
              <a:schemeClr val="accent1"/>
            </a:solidFill>
            <a:prstDash val="solid"/>
          </a:ln>
        </p:spPr>
      </p:sp>
      <p:pic>
        <p:nvPicPr>
          <p:cNvPr id="7" name="icon-3" descr="preencoded.png">    </p:cNvPr>
          <p:cNvPicPr>
            <a:picLocks noChangeAspect="1"/>
          </p:cNvPicPr>
          <p:nvPr/>
        </p:nvPicPr>
        <p:blipFill>
          <a:blip r:embed="rId1"/>
          <a:stretch>
            <a:fillRect/>
          </a:stretch>
        </p:blipFill>
        <p:spPr>
          <a:xfrm>
            <a:off x="1607515" y="2064715"/>
            <a:ext cx="351130" cy="351130"/>
          </a:xfrm>
          <a:prstGeom prst="rect">
            <a:avLst/>
          </a:prstGeom>
        </p:spPr>
      </p:pic>
      <p:sp>
        <p:nvSpPr>
          <p:cNvPr id="8" name="Text 4"/>
          <p:cNvSpPr txBox="1"/>
          <p:nvPr/>
        </p:nvSpPr>
        <p:spPr>
          <a:xfrm>
            <a:off x="548640" y="2651760"/>
            <a:ext cx="2468880" cy="365760"/>
          </a:xfrm>
          <a:prstGeom prst="rect">
            <a:avLst/>
          </a:prstGeom>
          <a:noFill/>
          <a:ln/>
        </p:spPr>
        <p:txBody>
          <a:bodyPr wrap="square" lIns="0" tIns="0" rIns="0" bIns="0" rtlCol="0" anchor="ctr"/>
          <a:lstStyle/>
          <a:p>
            <a:pPr algn="ctr" indent="0" marL="0">
              <a:buNone/>
            </a:pPr>
            <a:r>
              <a:rPr lang="en-US" sz="1800" b="1" dirty="0">
                <a:solidFill>
                  <a:schemeClr val="tx2"/>
                </a:solidFill>
              </a:rPr>
              <a:t>Browser</a:t>
            </a:r>
            <a:endParaRPr lang="en-US" sz="1800" dirty="0"/>
          </a:p>
        </p:txBody>
      </p:sp>
      <p:sp>
        <p:nvSpPr>
          <p:cNvPr id="9" name="spa-4"/>
          <p:cNvSpPr txBox="1"/>
          <p:nvPr/>
        </p:nvSpPr>
        <p:spPr>
          <a:xfrm>
            <a:off x="731520" y="3108960"/>
            <a:ext cx="2103120" cy="1737360"/>
          </a:xfrm>
          <a:prstGeom prst="roundRect">
            <a:avLst>
              <a:gd name="adj" fmla="val 4211"/>
            </a:avLst>
          </a:prstGeom>
          <a:solidFill>
            <a:schemeClr val="bg1"/>
          </a:solidFill>
          <a:ln w="12700">
            <a:solidFill>
              <a:schemeClr val="accent1"/>
            </a:solidFill>
            <a:prstDash val="solid"/>
          </a:ln>
        </p:spPr>
        <p:txBody>
          <a:bodyPr wrap="square" lIns="50800" tIns="50800" rIns="50800" bIns="50800" rtlCol="0" anchor="ctr"/>
          <a:lstStyle/>
          <a:p>
            <a:pPr algn="ctr" indent="0" marL="0">
              <a:buNone/>
            </a:pPr>
            <a:r>
              <a:rPr lang="en-US" sz="1500" b="1" dirty="0">
                <a:solidFill>
                  <a:schemeClr val="tx1"/>
                </a:solidFill>
              </a:rPr>
              <a:t>React 18 SPA</a:t>
            </a:r>
            <a:endParaRPr lang="en-US" sz="1200" dirty="0"/>
          </a:p>
          <a:p>
            <a:pPr algn="ctr" indent="0" marL="0">
              <a:buNone/>
            </a:pPr>
            <a:r>
              <a:rPr lang="en-US" sz="1200" dirty="0">
                <a:solidFill>
                  <a:schemeClr val="tx1"/>
                </a:solidFill>
              </a:rPr>
              <a:t>TypeScript · Vite</a:t>
            </a:r>
            <a:endParaRPr lang="en-US" sz="1200" dirty="0"/>
          </a:p>
          <a:p>
            <a:pPr algn="ctr" indent="0" marL="0">
              <a:buNone/>
            </a:pPr>
            <a:r>
              <a:rPr lang="en-US" sz="1200" dirty="0">
                <a:solidFill>
                  <a:schemeClr val="tx1"/>
                </a:solidFill>
              </a:rPr>
              <a:t>TanStack Query</a:t>
            </a:r>
            <a:endParaRPr lang="en-US" sz="1200" dirty="0"/>
          </a:p>
          <a:p>
            <a:pPr algn="ctr" indent="0" marL="0">
              <a:buNone/>
            </a:pPr>
            <a:r>
              <a:rPr lang="en-US" sz="1200" dirty="0">
                <a:solidFill>
                  <a:schemeClr val="tx1"/>
                </a:solidFill>
              </a:rPr>
              <a:t>React Router · Tailwind</a:t>
            </a:r>
            <a:endParaRPr lang="en-US" sz="1200" dirty="0"/>
          </a:p>
          <a:p>
            <a:pPr algn="ctr" indent="0" marL="0">
              <a:buNone/>
            </a:pPr>
            <a:r>
              <a:rPr lang="en-US" sz="1200" dirty="0">
                <a:solidFill>
                  <a:schemeClr val="tx1"/>
                </a:solidFill>
              </a:rPr>
              <a:t>Route guards (UX only)</a:t>
            </a:r>
            <a:endParaRPr lang="en-US" sz="1200" dirty="0"/>
          </a:p>
        </p:txBody>
      </p:sp>
      <p:sp>
        <p:nvSpPr>
          <p:cNvPr id="10" name="nginx-5"/>
          <p:cNvSpPr txBox="1"/>
          <p:nvPr/>
        </p:nvSpPr>
        <p:spPr>
          <a:xfrm>
            <a:off x="3611880" y="2377440"/>
            <a:ext cx="1920240" cy="2011680"/>
          </a:xfrm>
          <a:prstGeom prst="roundRect">
            <a:avLst>
              <a:gd name="adj" fmla="val 3810"/>
            </a:avLst>
          </a:prstGeom>
          <a:solidFill>
            <a:schemeClr val="tx2"/>
          </a:solidFill>
          <a:ln/>
        </p:spPr>
        <p:txBody>
          <a:bodyPr wrap="square" lIns="50800" tIns="50800" rIns="50800" bIns="50800" rtlCol="0" anchor="ctr"/>
          <a:lstStyle/>
          <a:p>
            <a:pPr algn="ctr" indent="0" marL="0">
              <a:buNone/>
            </a:pPr>
            <a:r>
              <a:rPr lang="en-US" sz="1600" b="1" dirty="0">
                <a:solidFill>
                  <a:schemeClr val="bg1"/>
                </a:solidFill>
              </a:rPr>
              <a:t>nginx</a:t>
            </a:r>
            <a:endParaRPr lang="en-US" sz="1200" dirty="0"/>
          </a:p>
          <a:p>
            <a:pPr algn="ctr" indent="0" marL="0">
              <a:buNone/>
            </a:pPr>
            <a:r>
              <a:rPr lang="en-US" sz="1200" dirty="0">
                <a:solidFill>
                  <a:schemeClr val="bg1"/>
                </a:solidFill>
              </a:rPr>
              <a:t>Serves static bundle</a:t>
            </a:r>
            <a:endParaRPr lang="en-US" sz="1200" dirty="0"/>
          </a:p>
          <a:p>
            <a:pPr algn="ctr" indent="0" marL="0">
              <a:buNone/>
            </a:pPr>
            <a:r>
              <a:rPr lang="en-US" sz="1200" dirty="0">
                <a:solidFill>
                  <a:schemeClr val="bg1"/>
                </a:solidFill>
              </a:rPr>
              <a:t>Proxies /api/ → backend</a:t>
            </a:r>
            <a:endParaRPr lang="en-US" sz="1200" dirty="0"/>
          </a:p>
          <a:p>
            <a:pPr algn="ctr" indent="0" marL="0">
              <a:buNone/>
            </a:pPr>
            <a:r>
              <a:rPr lang="en-US" sz="1200" dirty="0">
                <a:solidFill>
                  <a:schemeClr val="bg1"/>
                </a:solidFill>
              </a:rPr>
              <a:t>SPA fallback routing</a:t>
            </a:r>
            <a:endParaRPr lang="en-US" sz="1200" dirty="0"/>
          </a:p>
        </p:txBody>
      </p:sp>
      <p:sp>
        <p:nvSpPr>
          <p:cNvPr id="11" name="arrow-6"/>
          <p:cNvSpPr/>
          <p:nvPr/>
        </p:nvSpPr>
        <p:spPr>
          <a:xfrm>
            <a:off x="3017520" y="3383280"/>
            <a:ext cx="594360" cy="0"/>
          </a:xfrm>
          <a:prstGeom prst="line">
            <a:avLst/>
          </a:prstGeom>
          <a:noFill/>
          <a:ln w="22225">
            <a:solidFill>
              <a:schemeClr val="accent1"/>
            </a:solidFill>
            <a:prstDash val="solid"/>
            <a:headEnd type="triangle"/>
            <a:tailEnd type="triangle"/>
          </a:ln>
        </p:spPr>
      </p:sp>
      <p:sp>
        <p:nvSpPr>
          <p:cNvPr id="12" name="Text 8"/>
          <p:cNvSpPr txBox="1"/>
          <p:nvPr/>
        </p:nvSpPr>
        <p:spPr>
          <a:xfrm>
            <a:off x="2697480" y="4526280"/>
            <a:ext cx="3108960" cy="274320"/>
          </a:xfrm>
          <a:prstGeom prst="rect">
            <a:avLst/>
          </a:prstGeom>
          <a:noFill/>
          <a:ln/>
        </p:spPr>
        <p:txBody>
          <a:bodyPr wrap="square" lIns="0" tIns="0" rIns="0" bIns="0" rtlCol="0" anchor="ctr"/>
          <a:lstStyle/>
          <a:p>
            <a:pPr algn="ctr" indent="0" marL="0">
              <a:buNone/>
            </a:pPr>
            <a:r>
              <a:rPr lang="en-US" sz="1100" i="1" dirty="0">
                <a:solidFill>
                  <a:schemeClr val="accent5"/>
                </a:solidFill>
              </a:rPr>
              <a:t>HTTPS + Bearer JWT</a:t>
            </a:r>
            <a:endParaRPr lang="en-US" sz="1100" dirty="0"/>
          </a:p>
        </p:txBody>
      </p:sp>
      <p:sp>
        <p:nvSpPr>
          <p:cNvPr id="13" name="backend-zone-7"/>
          <p:cNvSpPr txBox="1"/>
          <p:nvPr/>
        </p:nvSpPr>
        <p:spPr>
          <a:xfrm>
            <a:off x="6126480" y="1737360"/>
            <a:ext cx="3383280" cy="3291840"/>
          </a:xfrm>
          <a:prstGeom prst="roundRect">
            <a:avLst>
              <a:gd name="adj" fmla="val 2222"/>
            </a:avLst>
          </a:prstGeom>
          <a:solidFill>
            <a:schemeClr val="bg2"/>
          </a:solidFill>
          <a:ln/>
        </p:spPr>
        <p:txBody>
          <a:bodyPr wrap="square" lIns="50800" tIns="50800" rIns="50800" bIns="50800" rtlCol="0" anchor="ctr"/>
          <a:lstStyle/>
          <a:p>
            <a:pPr algn="ctr" indent="0" marL="0">
              <a:buNone/>
            </a:pPr>
            <a:endParaRPr lang="en-US" sz="1400" dirty="0"/>
          </a:p>
        </p:txBody>
      </p:sp>
      <p:sp>
        <p:nvSpPr>
          <p:cNvPr id="14" name="Text 10"/>
          <p:cNvSpPr txBox="1"/>
          <p:nvPr/>
        </p:nvSpPr>
        <p:spPr>
          <a:xfrm>
            <a:off x="6126480" y="1810512"/>
            <a:ext cx="3383280" cy="365760"/>
          </a:xfrm>
          <a:prstGeom prst="rect">
            <a:avLst/>
          </a:prstGeom>
          <a:noFill/>
          <a:ln/>
        </p:spPr>
        <p:txBody>
          <a:bodyPr wrap="square" lIns="0" tIns="0" rIns="0" bIns="0" rtlCol="0" anchor="ctr"/>
          <a:lstStyle/>
          <a:p>
            <a:pPr algn="ctr" indent="0" marL="0">
              <a:buNone/>
            </a:pPr>
            <a:r>
              <a:rPr lang="en-US" sz="1700" b="1" dirty="0">
                <a:solidFill>
                  <a:schemeClr val="tx2"/>
                </a:solidFill>
              </a:rPr>
              <a:t>FastAPI backend</a:t>
            </a:r>
            <a:endParaRPr lang="en-US" sz="1700" dirty="0"/>
          </a:p>
        </p:txBody>
      </p:sp>
      <p:sp>
        <p:nvSpPr>
          <p:cNvPr id="15" name="layer-8"/>
          <p:cNvSpPr txBox="1"/>
          <p:nvPr/>
        </p:nvSpPr>
        <p:spPr>
          <a:xfrm>
            <a:off x="6355080" y="2286000"/>
            <a:ext cx="2926080" cy="685800"/>
          </a:xfrm>
          <a:prstGeom prst="roundRect">
            <a:avLst>
              <a:gd name="adj" fmla="val 10667"/>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api/v1 routers — HTTP, auth, validation</a:t>
            </a:r>
            <a:endParaRPr lang="en-US" sz="1300" dirty="0"/>
          </a:p>
        </p:txBody>
      </p:sp>
      <p:sp>
        <p:nvSpPr>
          <p:cNvPr id="16" name="layer-9"/>
          <p:cNvSpPr txBox="1"/>
          <p:nvPr/>
        </p:nvSpPr>
        <p:spPr>
          <a:xfrm>
            <a:off x="6355080" y="3154680"/>
            <a:ext cx="2926080" cy="685800"/>
          </a:xfrm>
          <a:prstGeom prst="roundRect">
            <a:avLst>
              <a:gd name="adj" fmla="val 10667"/>
            </a:avLst>
          </a:prstGeom>
          <a:solidFill>
            <a:schemeClr val="accent6"/>
          </a:solidFill>
          <a:ln/>
        </p:spPr>
        <p:txBody>
          <a:bodyPr wrap="square" lIns="50800" tIns="50800" rIns="50800" bIns="50800" rtlCol="0" anchor="ctr"/>
          <a:lstStyle/>
          <a:p>
            <a:pPr algn="ctr" indent="0" marL="0">
              <a:buNone/>
            </a:pPr>
            <a:r>
              <a:rPr lang="en-US" sz="1300" b="1" dirty="0">
                <a:solidFill>
                  <a:schemeClr val="bg1"/>
                </a:solidFill>
              </a:rPr>
              <a:t>services — business rules, scope, audit</a:t>
            </a:r>
            <a:endParaRPr lang="en-US" sz="1300" dirty="0"/>
          </a:p>
        </p:txBody>
      </p:sp>
      <p:sp>
        <p:nvSpPr>
          <p:cNvPr id="17" name="layer-10"/>
          <p:cNvSpPr txBox="1"/>
          <p:nvPr/>
        </p:nvSpPr>
        <p:spPr>
          <a:xfrm>
            <a:off x="6355080" y="4023360"/>
            <a:ext cx="2926080" cy="685800"/>
          </a:xfrm>
          <a:prstGeom prst="roundRect">
            <a:avLst>
              <a:gd name="adj" fmla="val 10667"/>
            </a:avLst>
          </a:prstGeom>
          <a:solidFill>
            <a:schemeClr val="tx2"/>
          </a:solidFill>
          <a:ln/>
        </p:spPr>
        <p:txBody>
          <a:bodyPr wrap="square" lIns="50800" tIns="50800" rIns="50800" bIns="50800" rtlCol="0" anchor="ctr"/>
          <a:lstStyle/>
          <a:p>
            <a:pPr algn="ctr" indent="0" marL="0">
              <a:buNone/>
            </a:pPr>
            <a:r>
              <a:rPr lang="en-US" sz="1300" b="1" dirty="0">
                <a:solidFill>
                  <a:schemeClr val="bg1"/>
                </a:solidFill>
              </a:rPr>
              <a:t>models — SQLAlchemy 2.0 mappings</a:t>
            </a:r>
            <a:endParaRPr lang="en-US" sz="1300" dirty="0"/>
          </a:p>
        </p:txBody>
      </p:sp>
      <p:sp>
        <p:nvSpPr>
          <p:cNvPr id="18" name="arrow-11"/>
          <p:cNvSpPr/>
          <p:nvPr/>
        </p:nvSpPr>
        <p:spPr>
          <a:xfrm>
            <a:off x="7818120" y="2971800"/>
            <a:ext cx="0" cy="182880"/>
          </a:xfrm>
          <a:prstGeom prst="line">
            <a:avLst/>
          </a:prstGeom>
          <a:noFill/>
          <a:ln w="22225">
            <a:solidFill>
              <a:schemeClr val="accent5"/>
            </a:solidFill>
            <a:prstDash val="solid"/>
            <a:tailEnd type="triangle"/>
          </a:ln>
        </p:spPr>
      </p:sp>
      <p:sp>
        <p:nvSpPr>
          <p:cNvPr id="19" name="arrow-12"/>
          <p:cNvSpPr/>
          <p:nvPr/>
        </p:nvSpPr>
        <p:spPr>
          <a:xfrm>
            <a:off x="7818120" y="3840480"/>
            <a:ext cx="0" cy="182880"/>
          </a:xfrm>
          <a:prstGeom prst="line">
            <a:avLst/>
          </a:prstGeom>
          <a:noFill/>
          <a:ln w="22225">
            <a:solidFill>
              <a:schemeClr val="accent5"/>
            </a:solidFill>
            <a:prstDash val="solid"/>
            <a:tailEnd type="triangle"/>
          </a:ln>
        </p:spPr>
      </p:sp>
      <p:sp>
        <p:nvSpPr>
          <p:cNvPr id="20" name="arrow-13"/>
          <p:cNvSpPr/>
          <p:nvPr/>
        </p:nvSpPr>
        <p:spPr>
          <a:xfrm>
            <a:off x="5532120" y="3383280"/>
            <a:ext cx="594360" cy="0"/>
          </a:xfrm>
          <a:prstGeom prst="line">
            <a:avLst/>
          </a:prstGeom>
          <a:noFill/>
          <a:ln w="22225">
            <a:solidFill>
              <a:schemeClr val="accent1"/>
            </a:solidFill>
            <a:prstDash val="solid"/>
            <a:headEnd type="triangle"/>
            <a:tailEnd type="triangle"/>
          </a:ln>
        </p:spPr>
      </p:sp>
      <p:sp>
        <p:nvSpPr>
          <p:cNvPr id="21" name="db-zone-14"/>
          <p:cNvSpPr txBox="1"/>
          <p:nvPr/>
        </p:nvSpPr>
        <p:spPr>
          <a:xfrm>
            <a:off x="10058400" y="1737360"/>
            <a:ext cx="1554480" cy="1508760"/>
          </a:xfrm>
          <a:prstGeom prst="roundRect">
            <a:avLst>
              <a:gd name="adj" fmla="val 4848"/>
            </a:avLst>
          </a:prstGeom>
          <a:solidFill>
            <a:schemeClr val="bg2"/>
          </a:solidFill>
          <a:ln/>
        </p:spPr>
        <p:txBody>
          <a:bodyPr wrap="square" lIns="50800" tIns="50800" rIns="50800" bIns="50800" rtlCol="0" anchor="ctr"/>
          <a:lstStyle/>
          <a:p>
            <a:pPr algn="ctr" indent="0" marL="0">
              <a:buNone/>
            </a:pPr>
            <a:endParaRPr lang="en-US" sz="1400" dirty="0"/>
          </a:p>
        </p:txBody>
      </p:sp>
      <p:sp>
        <p:nvSpPr>
          <p:cNvPr id="22" name="icondot-15"/>
          <p:cNvSpPr/>
          <p:nvPr/>
        </p:nvSpPr>
        <p:spPr>
          <a:xfrm>
            <a:off x="10515600" y="1828800"/>
            <a:ext cx="640080" cy="640080"/>
          </a:xfrm>
          <a:prstGeom prst="ellipse">
            <a:avLst/>
          </a:prstGeom>
          <a:solidFill>
            <a:schemeClr val="tx2"/>
          </a:solidFill>
          <a:ln w="12700">
            <a:solidFill>
              <a:schemeClr val="tx2"/>
            </a:solidFill>
            <a:prstDash val="solid"/>
          </a:ln>
        </p:spPr>
      </p:sp>
      <p:pic>
        <p:nvPicPr>
          <p:cNvPr id="23" name="icon-16" descr="preencoded.png">    </p:cNvPr>
          <p:cNvPicPr>
            <a:picLocks noChangeAspect="1"/>
          </p:cNvPicPr>
          <p:nvPr/>
        </p:nvPicPr>
        <p:blipFill>
          <a:blip r:embed="rId2"/>
          <a:stretch>
            <a:fillRect/>
          </a:stretch>
        </p:blipFill>
        <p:spPr>
          <a:xfrm>
            <a:off x="10682021" y="1995221"/>
            <a:ext cx="307238" cy="307238"/>
          </a:xfrm>
          <a:prstGeom prst="rect">
            <a:avLst/>
          </a:prstGeom>
        </p:spPr>
      </p:pic>
      <p:sp>
        <p:nvSpPr>
          <p:cNvPr id="24" name="Text 19"/>
          <p:cNvSpPr txBox="1"/>
          <p:nvPr/>
        </p:nvSpPr>
        <p:spPr>
          <a:xfrm>
            <a:off x="10058400" y="2514600"/>
            <a:ext cx="1554480" cy="640080"/>
          </a:xfrm>
          <a:prstGeom prst="rect">
            <a:avLst/>
          </a:prstGeom>
          <a:noFill/>
          <a:ln/>
        </p:spPr>
        <p:txBody>
          <a:bodyPr wrap="square" lIns="0" tIns="0" rIns="0" bIns="0" rtlCol="0" anchor="ctr"/>
          <a:lstStyle/>
          <a:p>
            <a:pPr algn="ctr" indent="0" marL="0">
              <a:buNone/>
            </a:pPr>
            <a:r>
              <a:rPr lang="en-US" sz="1200" b="1" dirty="0">
                <a:solidFill>
                  <a:schemeClr val="tx1"/>
                </a:solidFill>
              </a:rPr>
              <a:t>PostgreSQL 16</a:t>
            </a:r>
            <a:endParaRPr lang="en-US" sz="1200" dirty="0"/>
          </a:p>
          <a:p>
            <a:pPr algn="ctr" indent="0" marL="0">
              <a:buNone/>
            </a:pPr>
            <a:r>
              <a:rPr lang="en-US" sz="1200" dirty="0">
                <a:solidFill>
                  <a:schemeClr val="tx1"/>
                </a:solidFill>
              </a:rPr>
              <a:t>47 tables</a:t>
            </a:r>
            <a:endParaRPr lang="en-US" sz="1200" dirty="0"/>
          </a:p>
        </p:txBody>
      </p:sp>
      <p:sp>
        <p:nvSpPr>
          <p:cNvPr id="25" name="store-zone-17"/>
          <p:cNvSpPr txBox="1"/>
          <p:nvPr/>
        </p:nvSpPr>
        <p:spPr>
          <a:xfrm>
            <a:off x="10058400" y="3520440"/>
            <a:ext cx="1554480" cy="1508760"/>
          </a:xfrm>
          <a:prstGeom prst="roundRect">
            <a:avLst>
              <a:gd name="adj" fmla="val 4848"/>
            </a:avLst>
          </a:prstGeom>
          <a:solidFill>
            <a:schemeClr val="bg2"/>
          </a:solidFill>
          <a:ln/>
        </p:spPr>
        <p:txBody>
          <a:bodyPr wrap="square" lIns="50800" tIns="50800" rIns="50800" bIns="50800" rtlCol="0" anchor="ctr"/>
          <a:lstStyle/>
          <a:p>
            <a:pPr algn="ctr" indent="0" marL="0">
              <a:buNone/>
            </a:pPr>
            <a:endParaRPr lang="en-US" sz="1400" dirty="0"/>
          </a:p>
        </p:txBody>
      </p:sp>
      <p:sp>
        <p:nvSpPr>
          <p:cNvPr id="26" name="icondot-18"/>
          <p:cNvSpPr/>
          <p:nvPr/>
        </p:nvSpPr>
        <p:spPr>
          <a:xfrm>
            <a:off x="10515600" y="3611880"/>
            <a:ext cx="640080" cy="640080"/>
          </a:xfrm>
          <a:prstGeom prst="ellipse">
            <a:avLst/>
          </a:prstGeom>
          <a:solidFill>
            <a:schemeClr val="accent6"/>
          </a:solidFill>
          <a:ln w="12700">
            <a:solidFill>
              <a:schemeClr val="accent6"/>
            </a:solidFill>
            <a:prstDash val="solid"/>
          </a:ln>
        </p:spPr>
      </p:sp>
      <p:pic>
        <p:nvPicPr>
          <p:cNvPr id="27" name="icon-19" descr="preencoded.png">    </p:cNvPr>
          <p:cNvPicPr>
            <a:picLocks noChangeAspect="1"/>
          </p:cNvPicPr>
          <p:nvPr/>
        </p:nvPicPr>
        <p:blipFill>
          <a:blip r:embed="rId3"/>
          <a:stretch>
            <a:fillRect/>
          </a:stretch>
        </p:blipFill>
        <p:spPr>
          <a:xfrm>
            <a:off x="10682021" y="3778301"/>
            <a:ext cx="307238" cy="307238"/>
          </a:xfrm>
          <a:prstGeom prst="rect">
            <a:avLst/>
          </a:prstGeom>
        </p:spPr>
      </p:pic>
      <p:sp>
        <p:nvSpPr>
          <p:cNvPr id="28" name="Text 22"/>
          <p:cNvSpPr txBox="1"/>
          <p:nvPr/>
        </p:nvSpPr>
        <p:spPr>
          <a:xfrm>
            <a:off x="10058400" y="4297680"/>
            <a:ext cx="1554480" cy="640080"/>
          </a:xfrm>
          <a:prstGeom prst="rect">
            <a:avLst/>
          </a:prstGeom>
          <a:noFill/>
          <a:ln/>
        </p:spPr>
        <p:txBody>
          <a:bodyPr wrap="square" lIns="0" tIns="0" rIns="0" bIns="0" rtlCol="0" anchor="ctr"/>
          <a:lstStyle/>
          <a:p>
            <a:pPr algn="ctr" indent="0" marL="0">
              <a:buNone/>
            </a:pPr>
            <a:r>
              <a:rPr lang="en-US" sz="1200" b="1" dirty="0">
                <a:solidFill>
                  <a:schemeClr val="tx1"/>
                </a:solidFill>
              </a:rPr>
              <a:t>File storage</a:t>
            </a:r>
            <a:endParaRPr lang="en-US" sz="1200" dirty="0"/>
          </a:p>
          <a:p>
            <a:pPr algn="ctr" indent="0" marL="0">
              <a:buNone/>
            </a:pPr>
            <a:r>
              <a:rPr lang="en-US" sz="1200" dirty="0">
                <a:solidFill>
                  <a:schemeClr val="tx1"/>
                </a:solidFill>
              </a:rPr>
              <a:t>Local · S3</a:t>
            </a:r>
            <a:endParaRPr lang="en-US" sz="1200" dirty="0"/>
          </a:p>
        </p:txBody>
      </p:sp>
      <p:sp>
        <p:nvSpPr>
          <p:cNvPr id="29" name="arrow-20"/>
          <p:cNvSpPr/>
          <p:nvPr/>
        </p:nvSpPr>
        <p:spPr>
          <a:xfrm>
            <a:off x="9509760" y="2487168"/>
            <a:ext cx="548640" cy="0"/>
          </a:xfrm>
          <a:prstGeom prst="line">
            <a:avLst/>
          </a:prstGeom>
          <a:noFill/>
          <a:ln w="22225">
            <a:solidFill>
              <a:schemeClr val="accent5"/>
            </a:solidFill>
            <a:prstDash val="solid"/>
            <a:headEnd type="triangle"/>
            <a:tailEnd type="triangle"/>
          </a:ln>
        </p:spPr>
      </p:sp>
      <p:sp>
        <p:nvSpPr>
          <p:cNvPr id="30" name="arrow-21"/>
          <p:cNvSpPr/>
          <p:nvPr/>
        </p:nvSpPr>
        <p:spPr>
          <a:xfrm>
            <a:off x="9509760" y="4270248"/>
            <a:ext cx="548640" cy="0"/>
          </a:xfrm>
          <a:prstGeom prst="line">
            <a:avLst/>
          </a:prstGeom>
          <a:noFill/>
          <a:ln w="22225">
            <a:solidFill>
              <a:schemeClr val="accent5"/>
            </a:solidFill>
            <a:prstDash val="solid"/>
            <a:headEnd type="triangle"/>
            <a:tailEnd type="triangle"/>
          </a:ln>
        </p:spPr>
      </p:sp>
      <p:sp>
        <p:nvSpPr>
          <p:cNvPr id="31" name="strip-22"/>
          <p:cNvSpPr txBox="1"/>
          <p:nvPr/>
        </p:nvSpPr>
        <p:spPr>
          <a:xfrm>
            <a:off x="548640" y="5349240"/>
            <a:ext cx="3566160" cy="868680"/>
          </a:xfrm>
          <a:prstGeom prst="rect">
            <a:avLst/>
          </a:prstGeom>
          <a:noFill/>
          <a:ln/>
        </p:spPr>
        <p:txBody>
          <a:bodyPr wrap="square" lIns="0" tIns="0" rIns="0" bIns="0" rtlCol="0" anchor="t"/>
          <a:lstStyle/>
          <a:p>
            <a:pPr indent="0" marL="0">
              <a:buNone/>
            </a:pPr>
            <a:r>
              <a:rPr lang="en-US" sz="1300" b="1" dirty="0">
                <a:solidFill>
                  <a:schemeClr val="tx2"/>
                </a:solidFill>
              </a:rPr>
              <a:t>One origin in production</a:t>
            </a:r>
            <a:endParaRPr lang="en-US" sz="1300" dirty="0"/>
          </a:p>
          <a:p>
            <a:pPr indent="0" marL="0">
              <a:buNone/>
            </a:pPr>
            <a:r>
              <a:rPr lang="en-US" sz="1300" dirty="0">
                <a:solidFill>
                  <a:schemeClr val="tx1"/>
                </a:solidFill>
              </a:rPr>
              <a:t>nginx proxy means no cross-origin calls from the browser</a:t>
            </a:r>
            <a:endParaRPr lang="en-US" sz="1300" dirty="0"/>
          </a:p>
        </p:txBody>
      </p:sp>
      <p:sp>
        <p:nvSpPr>
          <p:cNvPr id="32" name="strip-23"/>
          <p:cNvSpPr txBox="1"/>
          <p:nvPr/>
        </p:nvSpPr>
        <p:spPr>
          <a:xfrm>
            <a:off x="4297680" y="5349240"/>
            <a:ext cx="3566160" cy="868680"/>
          </a:xfrm>
          <a:prstGeom prst="rect">
            <a:avLst/>
          </a:prstGeom>
          <a:noFill/>
          <a:ln/>
        </p:spPr>
        <p:txBody>
          <a:bodyPr wrap="square" lIns="0" tIns="0" rIns="0" bIns="0" rtlCol="0" anchor="t"/>
          <a:lstStyle/>
          <a:p>
            <a:pPr indent="0" marL="0">
              <a:buNone/>
            </a:pPr>
            <a:r>
              <a:rPr lang="en-US" sz="1300" b="1" dirty="0">
                <a:solidFill>
                  <a:schemeClr val="tx2"/>
                </a:solidFill>
              </a:rPr>
              <a:t>Self-starting backend</a:t>
            </a:r>
            <a:endParaRPr lang="en-US" sz="1300" dirty="0"/>
          </a:p>
          <a:p>
            <a:pPr indent="0" marL="0">
              <a:buNone/>
            </a:pPr>
            <a:r>
              <a:rPr lang="en-US" sz="1300" dirty="0">
                <a:solidFill>
                  <a:schemeClr val="tx1"/>
                </a:solidFill>
              </a:rPr>
              <a:t>Container entrypoint applies migrations and seeds demo data</a:t>
            </a:r>
            <a:endParaRPr lang="en-US" sz="1300" dirty="0"/>
          </a:p>
        </p:txBody>
      </p:sp>
      <p:sp>
        <p:nvSpPr>
          <p:cNvPr id="33" name="strip-24"/>
          <p:cNvSpPr txBox="1"/>
          <p:nvPr/>
        </p:nvSpPr>
        <p:spPr>
          <a:xfrm>
            <a:off x="8046720" y="5349240"/>
            <a:ext cx="3566160" cy="868680"/>
          </a:xfrm>
          <a:prstGeom prst="rect">
            <a:avLst/>
          </a:prstGeom>
          <a:noFill/>
          <a:ln/>
        </p:spPr>
        <p:txBody>
          <a:bodyPr wrap="square" lIns="0" tIns="0" rIns="0" bIns="0" rtlCol="0" anchor="t"/>
          <a:lstStyle/>
          <a:p>
            <a:pPr indent="0" marL="0">
              <a:buNone/>
            </a:pPr>
            <a:r>
              <a:rPr lang="en-US" sz="1300" b="1" dirty="0">
                <a:solidFill>
                  <a:schemeClr val="tx2"/>
                </a:solidFill>
              </a:rPr>
              <a:t>Storage abstraction</a:t>
            </a:r>
            <a:endParaRPr lang="en-US" sz="1300" dirty="0"/>
          </a:p>
          <a:p>
            <a:pPr indent="0" marL="0">
              <a:buNone/>
            </a:pPr>
            <a:r>
              <a:rPr lang="en-US" sz="1300" dirty="0">
                <a:solidFill>
                  <a:schemeClr val="tx1"/>
                </a:solidFill>
              </a:rPr>
              <a:t>StorageBackend ABC: LocalStorage (dev) / S3Storage (code ready)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Feature map</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Five modules in one application; navigation adapts to the signed-in user</a:t>
            </a:r>
            <a:endParaRPr lang="en-US" sz="1600" dirty="0"/>
          </a:p>
        </p:txBody>
      </p:sp>
      <p:sp>
        <p:nvSpPr>
          <p:cNvPr id="5" name="module-card-25"/>
          <p:cNvSpPr txBox="1"/>
          <p:nvPr/>
        </p:nvSpPr>
        <p:spPr>
          <a:xfrm>
            <a:off x="548640" y="1691640"/>
            <a:ext cx="2103120" cy="3840480"/>
          </a:xfrm>
          <a:prstGeom prst="roundRect">
            <a:avLst>
              <a:gd name="adj" fmla="val 3478"/>
            </a:avLst>
          </a:prstGeom>
          <a:solidFill>
            <a:schemeClr val="bg2"/>
          </a:solidFill>
          <a:ln/>
        </p:spPr>
        <p:txBody>
          <a:bodyPr wrap="square" lIns="50800" tIns="50800" rIns="50800" bIns="50800" rtlCol="0" anchor="ctr"/>
          <a:lstStyle/>
          <a:p>
            <a:pPr algn="ctr" indent="0" marL="0">
              <a:buNone/>
            </a:pPr>
            <a:endParaRPr lang="en-US" sz="1400" dirty="0"/>
          </a:p>
        </p:txBody>
      </p:sp>
      <p:sp>
        <p:nvSpPr>
          <p:cNvPr id="6" name="icondot-26"/>
          <p:cNvSpPr/>
          <p:nvPr/>
        </p:nvSpPr>
        <p:spPr>
          <a:xfrm>
            <a:off x="1211580" y="1874520"/>
            <a:ext cx="777240" cy="777240"/>
          </a:xfrm>
          <a:prstGeom prst="ellipse">
            <a:avLst/>
          </a:prstGeom>
          <a:solidFill>
            <a:schemeClr val="accent1"/>
          </a:solidFill>
          <a:ln w="12700">
            <a:solidFill>
              <a:schemeClr val="accent1"/>
            </a:solidFill>
            <a:prstDash val="solid"/>
          </a:ln>
        </p:spPr>
      </p:sp>
      <p:pic>
        <p:nvPicPr>
          <p:cNvPr id="7" name="icon-27" descr="preencoded.png">    </p:cNvPr>
          <p:cNvPicPr>
            <a:picLocks noChangeAspect="1"/>
          </p:cNvPicPr>
          <p:nvPr/>
        </p:nvPicPr>
        <p:blipFill>
          <a:blip r:embed="rId1"/>
          <a:stretch>
            <a:fillRect/>
          </a:stretch>
        </p:blipFill>
        <p:spPr>
          <a:xfrm>
            <a:off x="1413662" y="2076602"/>
            <a:ext cx="373075" cy="373075"/>
          </a:xfrm>
          <a:prstGeom prst="rect">
            <a:avLst/>
          </a:prstGeom>
        </p:spPr>
      </p:pic>
      <p:sp>
        <p:nvSpPr>
          <p:cNvPr id="8" name="Text 4"/>
          <p:cNvSpPr txBox="1"/>
          <p:nvPr/>
        </p:nvSpPr>
        <p:spPr>
          <a:xfrm>
            <a:off x="548640" y="274320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rPr>
              <a:t>Academics</a:t>
            </a:r>
            <a:endParaRPr lang="en-US" sz="1800" dirty="0"/>
          </a:p>
        </p:txBody>
      </p:sp>
      <p:sp>
        <p:nvSpPr>
          <p:cNvPr id="9" name="modlist-28"/>
          <p:cNvSpPr txBox="1"/>
          <p:nvPr/>
        </p:nvSpPr>
        <p:spPr>
          <a:xfrm>
            <a:off x="658368" y="3200400"/>
            <a:ext cx="1883664"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Curriculum viewer &amp; explorer</a:t>
            </a:r>
            <a:endParaRPr lang="en-US" sz="1250" dirty="0"/>
          </a:p>
          <a:p>
            <a:pPr marL="177800" indent="-177800">
              <a:spcAft>
                <a:spcPts val="500"/>
              </a:spcAft>
              <a:buSzPct val="100000"/>
              <a:buChar char="•"/>
            </a:pPr>
            <a:r>
              <a:rPr lang="en-US" sz="1250" dirty="0">
                <a:solidFill>
                  <a:schemeClr val="tx1"/>
                </a:solidFill>
              </a:rPr>
              <a:t>Course catalogue</a:t>
            </a:r>
            <a:endParaRPr lang="en-US" sz="1250" dirty="0"/>
          </a:p>
          <a:p>
            <a:pPr marL="177800" indent="-177800">
              <a:spcAft>
                <a:spcPts val="500"/>
              </a:spcAft>
              <a:buSzPct val="100000"/>
              <a:buChar char="•"/>
            </a:pPr>
            <a:r>
              <a:rPr lang="en-US" sz="1250" dirty="0">
                <a:solidFill>
                  <a:schemeClr val="tx1"/>
                </a:solidFill>
              </a:rPr>
              <a:t>Open &amp; Program Core electives</a:t>
            </a:r>
            <a:endParaRPr lang="en-US" sz="1250" dirty="0"/>
          </a:p>
          <a:p>
            <a:pPr marL="177800" indent="-177800">
              <a:spcAft>
                <a:spcPts val="500"/>
              </a:spcAft>
              <a:buSzPct val="100000"/>
              <a:buChar char="•"/>
            </a:pPr>
            <a:r>
              <a:rPr lang="en-US" sz="1250" dirty="0">
                <a:solidFill>
                  <a:schemeClr val="tx1"/>
                </a:solidFill>
              </a:rPr>
              <a:t>NPTEL / SWAYAM MOOC</a:t>
            </a:r>
            <a:endParaRPr lang="en-US" sz="1250" dirty="0"/>
          </a:p>
          <a:p>
            <a:pPr marL="177800" indent="-177800">
              <a:spcAft>
                <a:spcPts val="500"/>
              </a:spcAft>
              <a:buSzPct val="100000"/>
              <a:buChar char="•"/>
            </a:pPr>
            <a:r>
              <a:rPr lang="en-US" sz="1250" dirty="0">
                <a:solidFill>
                  <a:schemeClr val="tx1"/>
                </a:solidFill>
              </a:rPr>
              <a:t>Minor specialisation</a:t>
            </a:r>
            <a:endParaRPr lang="en-US" sz="1250" dirty="0"/>
          </a:p>
        </p:txBody>
      </p:sp>
      <p:sp>
        <p:nvSpPr>
          <p:cNvPr id="10" name="tag-29"/>
          <p:cNvSpPr txBox="1"/>
          <p:nvPr/>
        </p:nvSpPr>
        <p:spPr>
          <a:xfrm>
            <a:off x="937260" y="512064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11" name="module-card-30"/>
          <p:cNvSpPr txBox="1"/>
          <p:nvPr/>
        </p:nvSpPr>
        <p:spPr>
          <a:xfrm>
            <a:off x="2788920" y="1691640"/>
            <a:ext cx="2103120" cy="3840480"/>
          </a:xfrm>
          <a:prstGeom prst="roundRect">
            <a:avLst>
              <a:gd name="adj" fmla="val 3478"/>
            </a:avLst>
          </a:prstGeom>
          <a:solidFill>
            <a:schemeClr val="bg2"/>
          </a:solidFill>
          <a:ln/>
        </p:spPr>
        <p:txBody>
          <a:bodyPr wrap="square" lIns="50800" tIns="50800" rIns="50800" bIns="50800" rtlCol="0" anchor="ctr"/>
          <a:lstStyle/>
          <a:p>
            <a:pPr algn="ctr" indent="0" marL="0">
              <a:buNone/>
            </a:pPr>
            <a:endParaRPr lang="en-US" sz="1400" dirty="0"/>
          </a:p>
        </p:txBody>
      </p:sp>
      <p:sp>
        <p:nvSpPr>
          <p:cNvPr id="12" name="icondot-31"/>
          <p:cNvSpPr/>
          <p:nvPr/>
        </p:nvSpPr>
        <p:spPr>
          <a:xfrm>
            <a:off x="3451860" y="1874520"/>
            <a:ext cx="777240" cy="777240"/>
          </a:xfrm>
          <a:prstGeom prst="ellipse">
            <a:avLst/>
          </a:prstGeom>
          <a:solidFill>
            <a:schemeClr val="accent6"/>
          </a:solidFill>
          <a:ln w="12700">
            <a:solidFill>
              <a:schemeClr val="accent6"/>
            </a:solidFill>
            <a:prstDash val="solid"/>
          </a:ln>
        </p:spPr>
      </p:sp>
      <p:pic>
        <p:nvPicPr>
          <p:cNvPr id="13" name="icon-32" descr="preencoded.png">    </p:cNvPr>
          <p:cNvPicPr>
            <a:picLocks noChangeAspect="1"/>
          </p:cNvPicPr>
          <p:nvPr/>
        </p:nvPicPr>
        <p:blipFill>
          <a:blip r:embed="rId2"/>
          <a:stretch>
            <a:fillRect/>
          </a:stretch>
        </p:blipFill>
        <p:spPr>
          <a:xfrm>
            <a:off x="3653942" y="2076602"/>
            <a:ext cx="373075" cy="373075"/>
          </a:xfrm>
          <a:prstGeom prst="rect">
            <a:avLst/>
          </a:prstGeom>
        </p:spPr>
      </p:pic>
      <p:sp>
        <p:nvSpPr>
          <p:cNvPr id="14" name="Text 9"/>
          <p:cNvSpPr txBox="1"/>
          <p:nvPr/>
        </p:nvSpPr>
        <p:spPr>
          <a:xfrm>
            <a:off x="2788920" y="274320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rPr>
              <a:t>Internships</a:t>
            </a:r>
            <a:endParaRPr lang="en-US" sz="1800" dirty="0"/>
          </a:p>
        </p:txBody>
      </p:sp>
      <p:sp>
        <p:nvSpPr>
          <p:cNvPr id="15" name="modlist-33"/>
          <p:cNvSpPr txBox="1"/>
          <p:nvPr/>
        </p:nvSpPr>
        <p:spPr>
          <a:xfrm>
            <a:off x="2898648" y="3200400"/>
            <a:ext cx="1883664"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One engine: CSSI, Summer, Rural, Industrial Training</a:t>
            </a:r>
            <a:endParaRPr lang="en-US" sz="1250" dirty="0"/>
          </a:p>
          <a:p>
            <a:pPr marL="177800" indent="-177800">
              <a:spcAft>
                <a:spcPts val="500"/>
              </a:spcAft>
              <a:buSzPct val="100000"/>
              <a:buChar char="•"/>
            </a:pPr>
            <a:r>
              <a:rPr lang="en-US" sz="1250" dirty="0">
                <a:solidFill>
                  <a:schemeClr val="tx1"/>
                </a:solidFill>
              </a:rPr>
              <a:t>Stages, groups, mentors</a:t>
            </a:r>
            <a:endParaRPr lang="en-US" sz="1250" dirty="0"/>
          </a:p>
          <a:p>
            <a:pPr marL="177800" indent="-177800">
              <a:spcAft>
                <a:spcPts val="500"/>
              </a:spcAft>
              <a:buSzPct val="100000"/>
              <a:buChar char="•"/>
            </a:pPr>
            <a:r>
              <a:rPr lang="en-US" sz="1250" dirty="0">
                <a:solidFill>
                  <a:schemeClr val="tx1"/>
                </a:solidFill>
              </a:rPr>
              <a:t>Documents &amp; weekly reports</a:t>
            </a:r>
            <a:endParaRPr lang="en-US" sz="1250" dirty="0"/>
          </a:p>
          <a:p>
            <a:pPr marL="177800" indent="-177800">
              <a:spcAft>
                <a:spcPts val="500"/>
              </a:spcAft>
              <a:buSzPct val="100000"/>
              <a:buChar char="•"/>
            </a:pPr>
            <a:r>
              <a:rPr lang="en-US" sz="1250" dirty="0">
                <a:solidFill>
                  <a:schemeClr val="tx1"/>
                </a:solidFill>
              </a:rPr>
              <a:t>Rubric evaluation</a:t>
            </a:r>
            <a:endParaRPr lang="en-US" sz="1250" dirty="0"/>
          </a:p>
        </p:txBody>
      </p:sp>
      <p:sp>
        <p:nvSpPr>
          <p:cNvPr id="16" name="tag-34"/>
          <p:cNvSpPr txBox="1"/>
          <p:nvPr/>
        </p:nvSpPr>
        <p:spPr>
          <a:xfrm>
            <a:off x="3177540" y="512064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17" name="module-card-35"/>
          <p:cNvSpPr txBox="1"/>
          <p:nvPr/>
        </p:nvSpPr>
        <p:spPr>
          <a:xfrm>
            <a:off x="5029200" y="1691640"/>
            <a:ext cx="2103120" cy="3840480"/>
          </a:xfrm>
          <a:prstGeom prst="roundRect">
            <a:avLst>
              <a:gd name="adj" fmla="val 3478"/>
            </a:avLst>
          </a:prstGeom>
          <a:solidFill>
            <a:schemeClr val="bg2"/>
          </a:solidFill>
          <a:ln/>
        </p:spPr>
        <p:txBody>
          <a:bodyPr wrap="square" lIns="50800" tIns="50800" rIns="50800" bIns="50800" rtlCol="0" anchor="ctr"/>
          <a:lstStyle/>
          <a:p>
            <a:pPr algn="ctr" indent="0" marL="0">
              <a:buNone/>
            </a:pPr>
            <a:endParaRPr lang="en-US" sz="1400" dirty="0"/>
          </a:p>
        </p:txBody>
      </p:sp>
      <p:sp>
        <p:nvSpPr>
          <p:cNvPr id="18" name="icondot-36"/>
          <p:cNvSpPr/>
          <p:nvPr/>
        </p:nvSpPr>
        <p:spPr>
          <a:xfrm>
            <a:off x="5692140" y="1874520"/>
            <a:ext cx="777240" cy="777240"/>
          </a:xfrm>
          <a:prstGeom prst="ellipse">
            <a:avLst/>
          </a:prstGeom>
          <a:solidFill>
            <a:schemeClr val="accent3"/>
          </a:solidFill>
          <a:ln w="12700">
            <a:solidFill>
              <a:schemeClr val="accent3"/>
            </a:solidFill>
            <a:prstDash val="solid"/>
          </a:ln>
        </p:spPr>
      </p:sp>
      <p:pic>
        <p:nvPicPr>
          <p:cNvPr id="19" name="icon-37" descr="preencoded.png">    </p:cNvPr>
          <p:cNvPicPr>
            <a:picLocks noChangeAspect="1"/>
          </p:cNvPicPr>
          <p:nvPr/>
        </p:nvPicPr>
        <p:blipFill>
          <a:blip r:embed="rId3"/>
          <a:stretch>
            <a:fillRect/>
          </a:stretch>
        </p:blipFill>
        <p:spPr>
          <a:xfrm>
            <a:off x="5894222" y="2076602"/>
            <a:ext cx="373075" cy="373075"/>
          </a:xfrm>
          <a:prstGeom prst="rect">
            <a:avLst/>
          </a:prstGeom>
        </p:spPr>
      </p:pic>
      <p:sp>
        <p:nvSpPr>
          <p:cNvPr id="20" name="Text 14"/>
          <p:cNvSpPr txBox="1"/>
          <p:nvPr/>
        </p:nvSpPr>
        <p:spPr>
          <a:xfrm>
            <a:off x="5029200" y="274320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rPr>
              <a:t>Clubs &amp; Events</a:t>
            </a:r>
            <a:endParaRPr lang="en-US" sz="1800" dirty="0"/>
          </a:p>
        </p:txBody>
      </p:sp>
      <p:sp>
        <p:nvSpPr>
          <p:cNvPr id="21" name="modlist-38"/>
          <p:cNvSpPr txBox="1"/>
          <p:nvPr/>
        </p:nvSpPr>
        <p:spPr>
          <a:xfrm>
            <a:off x="5138928" y="3200400"/>
            <a:ext cx="1883664"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Club directory &amp; membership</a:t>
            </a:r>
            <a:endParaRPr lang="en-US" sz="1250" dirty="0"/>
          </a:p>
          <a:p>
            <a:pPr marL="177800" indent="-177800">
              <a:spcAft>
                <a:spcPts val="500"/>
              </a:spcAft>
              <a:buSzPct val="100000"/>
              <a:buChar char="•"/>
            </a:pPr>
            <a:r>
              <a:rPr lang="en-US" sz="1250" dirty="0">
                <a:solidFill>
                  <a:schemeClr val="tx1"/>
                </a:solidFill>
              </a:rPr>
              <a:t>Event publishing</a:t>
            </a:r>
            <a:endParaRPr lang="en-US" sz="1250" dirty="0"/>
          </a:p>
          <a:p>
            <a:pPr marL="177800" indent="-177800">
              <a:spcAft>
                <a:spcPts val="500"/>
              </a:spcAft>
              <a:buSzPct val="100000"/>
              <a:buChar char="•"/>
            </a:pPr>
            <a:r>
              <a:rPr lang="en-US" sz="1250" dirty="0">
                <a:solidFill>
                  <a:schemeClr val="tx1"/>
                </a:solidFill>
              </a:rPr>
              <a:t>Registration + waitlist</a:t>
            </a:r>
            <a:endParaRPr lang="en-US" sz="1250" dirty="0"/>
          </a:p>
          <a:p>
            <a:pPr marL="177800" indent="-177800">
              <a:spcAft>
                <a:spcPts val="500"/>
              </a:spcAft>
              <a:buSzPct val="100000"/>
              <a:buChar char="•"/>
            </a:pPr>
            <a:r>
              <a:rPr lang="en-US" sz="1250" dirty="0">
                <a:solidFill>
                  <a:schemeClr val="tx1"/>
                </a:solidFill>
              </a:rPr>
              <a:t>“Interested” tracking</a:t>
            </a:r>
            <a:endParaRPr lang="en-US" sz="1250" dirty="0"/>
          </a:p>
          <a:p>
            <a:pPr marL="177800" indent="-177800">
              <a:spcAft>
                <a:spcPts val="500"/>
              </a:spcAft>
              <a:buSzPct val="100000"/>
              <a:buChar char="•"/>
            </a:pPr>
            <a:r>
              <a:rPr lang="en-US" sz="1250" dirty="0">
                <a:solidFill>
                  <a:schemeClr val="tx1"/>
                </a:solidFill>
              </a:rPr>
              <a:t>Unified calendar</a:t>
            </a:r>
            <a:endParaRPr lang="en-US" sz="1250" dirty="0"/>
          </a:p>
        </p:txBody>
      </p:sp>
      <p:sp>
        <p:nvSpPr>
          <p:cNvPr id="22" name="tag-39"/>
          <p:cNvSpPr txBox="1"/>
          <p:nvPr/>
        </p:nvSpPr>
        <p:spPr>
          <a:xfrm>
            <a:off x="5417820" y="512064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3" name="module-card-40"/>
          <p:cNvSpPr txBox="1"/>
          <p:nvPr/>
        </p:nvSpPr>
        <p:spPr>
          <a:xfrm>
            <a:off x="7269480" y="1691640"/>
            <a:ext cx="2103120" cy="3840480"/>
          </a:xfrm>
          <a:prstGeom prst="roundRect">
            <a:avLst>
              <a:gd name="adj" fmla="val 3478"/>
            </a:avLst>
          </a:prstGeom>
          <a:solidFill>
            <a:schemeClr val="bg2"/>
          </a:solidFill>
          <a:ln/>
        </p:spPr>
        <p:txBody>
          <a:bodyPr wrap="square" lIns="50800" tIns="50800" rIns="50800" bIns="50800" rtlCol="0" anchor="ctr"/>
          <a:lstStyle/>
          <a:p>
            <a:pPr algn="ctr" indent="0" marL="0">
              <a:buNone/>
            </a:pPr>
            <a:endParaRPr lang="en-US" sz="1400" dirty="0"/>
          </a:p>
        </p:txBody>
      </p:sp>
      <p:sp>
        <p:nvSpPr>
          <p:cNvPr id="24" name="icondot-41"/>
          <p:cNvSpPr/>
          <p:nvPr/>
        </p:nvSpPr>
        <p:spPr>
          <a:xfrm>
            <a:off x="7932420" y="1874520"/>
            <a:ext cx="777240" cy="777240"/>
          </a:xfrm>
          <a:prstGeom prst="ellipse">
            <a:avLst/>
          </a:prstGeom>
          <a:solidFill>
            <a:schemeClr val="accent2"/>
          </a:solidFill>
          <a:ln w="12700">
            <a:solidFill>
              <a:schemeClr val="accent2"/>
            </a:solidFill>
            <a:prstDash val="solid"/>
          </a:ln>
        </p:spPr>
      </p:sp>
      <p:pic>
        <p:nvPicPr>
          <p:cNvPr id="25" name="icon-42" descr="preencoded.png">    </p:cNvPr>
          <p:cNvPicPr>
            <a:picLocks noChangeAspect="1"/>
          </p:cNvPicPr>
          <p:nvPr/>
        </p:nvPicPr>
        <p:blipFill>
          <a:blip r:embed="rId4"/>
          <a:stretch>
            <a:fillRect/>
          </a:stretch>
        </p:blipFill>
        <p:spPr>
          <a:xfrm>
            <a:off x="8134502" y="2076602"/>
            <a:ext cx="373075" cy="373075"/>
          </a:xfrm>
          <a:prstGeom prst="rect">
            <a:avLst/>
          </a:prstGeom>
        </p:spPr>
      </p:pic>
      <p:sp>
        <p:nvSpPr>
          <p:cNvPr id="26" name="Text 19"/>
          <p:cNvSpPr txBox="1"/>
          <p:nvPr/>
        </p:nvSpPr>
        <p:spPr>
          <a:xfrm>
            <a:off x="7269480" y="274320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rPr>
              <a:t>Engagement</a:t>
            </a:r>
            <a:endParaRPr lang="en-US" sz="1800" dirty="0"/>
          </a:p>
        </p:txBody>
      </p:sp>
      <p:sp>
        <p:nvSpPr>
          <p:cNvPr id="27" name="modlist-43"/>
          <p:cNvSpPr txBox="1"/>
          <p:nvPr/>
        </p:nvSpPr>
        <p:spPr>
          <a:xfrm>
            <a:off x="7379208" y="3200400"/>
            <a:ext cx="1883664"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Mentor–mentee profiles</a:t>
            </a:r>
            <a:endParaRPr lang="en-US" sz="1250" dirty="0"/>
          </a:p>
          <a:p>
            <a:pPr marL="177800" indent="-177800">
              <a:spcAft>
                <a:spcPts val="500"/>
              </a:spcAft>
              <a:buSzPct val="100000"/>
              <a:buChar char="•"/>
            </a:pPr>
            <a:r>
              <a:rPr lang="en-US" sz="1250" dirty="0">
                <a:solidFill>
                  <a:schemeClr val="tx1"/>
                </a:solidFill>
              </a:rPr>
              <a:t>Meeting requests</a:t>
            </a:r>
            <a:endParaRPr lang="en-US" sz="1250" dirty="0"/>
          </a:p>
          <a:p>
            <a:pPr marL="177800" indent="-177800">
              <a:spcAft>
                <a:spcPts val="500"/>
              </a:spcAft>
              <a:buSzPct val="100000"/>
              <a:buChar char="•"/>
            </a:pPr>
            <a:r>
              <a:rPr lang="en-US" sz="1250" dirty="0">
                <a:solidFill>
                  <a:schemeClr val="tx1"/>
                </a:solidFill>
              </a:rPr>
              <a:t>Faculty directory</a:t>
            </a:r>
            <a:endParaRPr lang="en-US" sz="1250" dirty="0"/>
          </a:p>
          <a:p>
            <a:pPr marL="177800" indent="-177800">
              <a:spcAft>
                <a:spcPts val="500"/>
              </a:spcAft>
              <a:buSzPct val="100000"/>
              <a:buChar char="•"/>
            </a:pPr>
            <a:r>
              <a:rPr lang="en-US" sz="1250" dirty="0">
                <a:solidFill>
                  <a:schemeClr val="tx1"/>
                </a:solidFill>
              </a:rPr>
              <a:t>Audience-scoped announcements</a:t>
            </a:r>
            <a:endParaRPr lang="en-US" sz="1250" dirty="0"/>
          </a:p>
          <a:p>
            <a:pPr marL="177800" indent="-177800">
              <a:spcAft>
                <a:spcPts val="500"/>
              </a:spcAft>
              <a:buSzPct val="100000"/>
              <a:buChar char="•"/>
            </a:pPr>
            <a:r>
              <a:rPr lang="en-US" sz="1250" dirty="0">
                <a:solidFill>
                  <a:schemeClr val="tx1"/>
                </a:solidFill>
              </a:rPr>
              <a:t>In-app notifications</a:t>
            </a:r>
            <a:endParaRPr lang="en-US" sz="1250" dirty="0"/>
          </a:p>
        </p:txBody>
      </p:sp>
      <p:sp>
        <p:nvSpPr>
          <p:cNvPr id="28" name="tag-44"/>
          <p:cNvSpPr txBox="1"/>
          <p:nvPr/>
        </p:nvSpPr>
        <p:spPr>
          <a:xfrm>
            <a:off x="7658100" y="512064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9" name="module-card-45"/>
          <p:cNvSpPr txBox="1"/>
          <p:nvPr/>
        </p:nvSpPr>
        <p:spPr>
          <a:xfrm>
            <a:off x="9509760" y="1691640"/>
            <a:ext cx="2103120" cy="3840480"/>
          </a:xfrm>
          <a:prstGeom prst="roundRect">
            <a:avLst>
              <a:gd name="adj" fmla="val 3478"/>
            </a:avLst>
          </a:prstGeom>
          <a:solidFill>
            <a:schemeClr val="bg2"/>
          </a:solidFill>
          <a:ln/>
        </p:spPr>
        <p:txBody>
          <a:bodyPr wrap="square" lIns="50800" tIns="50800" rIns="50800" bIns="50800" rtlCol="0" anchor="ctr"/>
          <a:lstStyle/>
          <a:p>
            <a:pPr algn="ctr" indent="0" marL="0">
              <a:buNone/>
            </a:pPr>
            <a:endParaRPr lang="en-US" sz="1400" dirty="0"/>
          </a:p>
        </p:txBody>
      </p:sp>
      <p:sp>
        <p:nvSpPr>
          <p:cNvPr id="30" name="icondot-46"/>
          <p:cNvSpPr/>
          <p:nvPr/>
        </p:nvSpPr>
        <p:spPr>
          <a:xfrm>
            <a:off x="10172700" y="1874520"/>
            <a:ext cx="777240" cy="777240"/>
          </a:xfrm>
          <a:prstGeom prst="ellipse">
            <a:avLst/>
          </a:prstGeom>
          <a:solidFill>
            <a:schemeClr val="tx2"/>
          </a:solidFill>
          <a:ln w="12700">
            <a:solidFill>
              <a:schemeClr val="tx2"/>
            </a:solidFill>
            <a:prstDash val="solid"/>
          </a:ln>
        </p:spPr>
      </p:sp>
      <p:pic>
        <p:nvPicPr>
          <p:cNvPr id="31" name="icon-47" descr="preencoded.png">    </p:cNvPr>
          <p:cNvPicPr>
            <a:picLocks noChangeAspect="1"/>
          </p:cNvPicPr>
          <p:nvPr/>
        </p:nvPicPr>
        <p:blipFill>
          <a:blip r:embed="rId5"/>
          <a:stretch>
            <a:fillRect/>
          </a:stretch>
        </p:blipFill>
        <p:spPr>
          <a:xfrm>
            <a:off x="10374782" y="2076602"/>
            <a:ext cx="373075" cy="373075"/>
          </a:xfrm>
          <a:prstGeom prst="rect">
            <a:avLst/>
          </a:prstGeom>
        </p:spPr>
      </p:pic>
      <p:sp>
        <p:nvSpPr>
          <p:cNvPr id="32" name="Text 24"/>
          <p:cNvSpPr txBox="1"/>
          <p:nvPr/>
        </p:nvSpPr>
        <p:spPr>
          <a:xfrm>
            <a:off x="9509760" y="274320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rPr>
              <a:t>Administration</a:t>
            </a:r>
            <a:endParaRPr lang="en-US" sz="1800" dirty="0"/>
          </a:p>
        </p:txBody>
      </p:sp>
      <p:sp>
        <p:nvSpPr>
          <p:cNvPr id="33" name="modlist-48"/>
          <p:cNvSpPr txBox="1"/>
          <p:nvPr/>
        </p:nvSpPr>
        <p:spPr>
          <a:xfrm>
            <a:off x="9619488" y="3200400"/>
            <a:ext cx="1883664" cy="1920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Role-specific dashboards</a:t>
            </a:r>
            <a:endParaRPr lang="en-US" sz="1250" dirty="0"/>
          </a:p>
          <a:p>
            <a:pPr marL="177800" indent="-177800">
              <a:spcAft>
                <a:spcPts val="500"/>
              </a:spcAft>
              <a:buSzPct val="100000"/>
              <a:buChar char="•"/>
            </a:pPr>
            <a:r>
              <a:rPr lang="en-US" sz="1250" dirty="0">
                <a:solidFill>
                  <a:schemeClr val="tx1"/>
                </a:solidFill>
              </a:rPr>
              <a:t>Students, faculty, departments</a:t>
            </a:r>
            <a:endParaRPr lang="en-US" sz="1250" dirty="0"/>
          </a:p>
          <a:p>
            <a:pPr marL="177800" indent="-177800">
              <a:spcAft>
                <a:spcPts val="500"/>
              </a:spcAft>
              <a:buSzPct val="100000"/>
              <a:buChar char="•"/>
            </a:pPr>
            <a:r>
              <a:rPr lang="en-US" sz="1250" dirty="0">
                <a:solidFill>
                  <a:schemeClr val="tx1"/>
                </a:solidFill>
              </a:rPr>
              <a:t>Curriculum versions</a:t>
            </a:r>
            <a:endParaRPr lang="en-US" sz="1250" dirty="0"/>
          </a:p>
          <a:p>
            <a:pPr marL="177800" indent="-177800">
              <a:spcAft>
                <a:spcPts val="500"/>
              </a:spcAft>
              <a:buSzPct val="100000"/>
              <a:buChar char="•"/>
            </a:pPr>
            <a:r>
              <a:rPr lang="en-US" sz="1250" dirty="0">
                <a:solidFill>
                  <a:schemeClr val="tx1"/>
                </a:solidFill>
              </a:rPr>
              <a:t>Allocation console</a:t>
            </a:r>
            <a:endParaRPr lang="en-US" sz="1250" dirty="0"/>
          </a:p>
          <a:p>
            <a:pPr marL="177800" indent="-177800">
              <a:spcAft>
                <a:spcPts val="500"/>
              </a:spcAft>
              <a:buSzPct val="100000"/>
              <a:buChar char="•"/>
            </a:pPr>
            <a:r>
              <a:rPr lang="en-US" sz="1250" dirty="0">
                <a:solidFill>
                  <a:schemeClr val="tx1"/>
                </a:solidFill>
              </a:rPr>
              <a:t>Role assignments · audit log</a:t>
            </a:r>
            <a:endParaRPr lang="en-US" sz="1250" dirty="0"/>
          </a:p>
        </p:txBody>
      </p:sp>
      <p:sp>
        <p:nvSpPr>
          <p:cNvPr id="34" name="tag-49"/>
          <p:cNvSpPr txBox="1"/>
          <p:nvPr/>
        </p:nvSpPr>
        <p:spPr>
          <a:xfrm>
            <a:off x="9898380" y="512064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35" name="tag-50"/>
          <p:cNvSpPr txBox="1"/>
          <p:nvPr/>
        </p:nvSpPr>
        <p:spPr>
          <a:xfrm>
            <a:off x="548640" y="5715000"/>
            <a:ext cx="100584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PARTIAL</a:t>
            </a:r>
            <a:endParaRPr lang="en-US" sz="1000" dirty="0"/>
          </a:p>
        </p:txBody>
      </p:sp>
      <p:sp>
        <p:nvSpPr>
          <p:cNvPr id="36" name="Text 28"/>
          <p:cNvSpPr txBox="1"/>
          <p:nvPr/>
        </p:nvSpPr>
        <p:spPr>
          <a:xfrm>
            <a:off x="1691640" y="5660136"/>
            <a:ext cx="9921240" cy="365760"/>
          </a:xfrm>
          <a:prstGeom prst="rect">
            <a:avLst/>
          </a:prstGeom>
          <a:noFill/>
          <a:ln/>
        </p:spPr>
        <p:txBody>
          <a:bodyPr wrap="square" lIns="0" tIns="0" rIns="0" bIns="0" rtlCol="0" anchor="ctr"/>
          <a:lstStyle/>
          <a:p>
            <a:pPr indent="0" marL="0">
              <a:buNone/>
            </a:pPr>
            <a:r>
              <a:rPr lang="en-US" sz="1250" dirty="0">
                <a:solidFill>
                  <a:schemeClr val="tx1"/>
                </a:solidFill>
              </a:rPr>
              <a:t>Round-management screen (API only) · verification-queue screen · audit-log filters · event discovery page · industry-mentor portal</a:t>
            </a:r>
            <a:endParaRPr lang="en-US" sz="1250" dirty="0"/>
          </a:p>
        </p:txBody>
      </p:sp>
      <p:sp>
        <p:nvSpPr>
          <p:cNvPr id="37" name="tag-51"/>
          <p:cNvSpPr txBox="1"/>
          <p:nvPr/>
        </p:nvSpPr>
        <p:spPr>
          <a:xfrm>
            <a:off x="548640" y="6108192"/>
            <a:ext cx="1005840" cy="256032"/>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100" kern="0" dirty="0">
                <a:solidFill>
                  <a:schemeClr val="bg1"/>
                </a:solidFill>
              </a:rPr>
              <a:t>PLANNED</a:t>
            </a:r>
            <a:endParaRPr lang="en-US" sz="1000" dirty="0"/>
          </a:p>
        </p:txBody>
      </p:sp>
      <p:sp>
        <p:nvSpPr>
          <p:cNvPr id="38" name="Text 30"/>
          <p:cNvSpPr txBox="1"/>
          <p:nvPr/>
        </p:nvSpPr>
        <p:spPr>
          <a:xfrm>
            <a:off x="1691640" y="6053328"/>
            <a:ext cx="9921240" cy="365760"/>
          </a:xfrm>
          <a:prstGeom prst="rect">
            <a:avLst/>
          </a:prstGeom>
          <a:noFill/>
          <a:ln/>
        </p:spPr>
        <p:txBody>
          <a:bodyPr wrap="square" lIns="0" tIns="0" rIns="0" bIns="0" rtlCol="0" anchor="ctr"/>
          <a:lstStyle/>
          <a:p>
            <a:pPr indent="0" marL="0">
              <a:buNone/>
            </a:pPr>
            <a:r>
              <a:rPr lang="en-US" sz="1250" dirty="0">
                <a:solidFill>
                  <a:schemeClr val="tx1"/>
                </a:solidFill>
              </a:rPr>
              <a:t>Merit allocation · letter grades · minor pro-rata &amp; waitlist auto-promotion · email/SMS · real-time chat · SSO · AWS deployment</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Electives: rounds, allocation &amp; sections</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The round is the single authority on submission; Open Electives open new 75-seat sections instead of rejecting students</a:t>
            </a:r>
            <a:endParaRPr lang="en-US" sz="1600" dirty="0"/>
          </a:p>
        </p:txBody>
      </p:sp>
      <p:sp>
        <p:nvSpPr>
          <p:cNvPr id="5" name="state-52"/>
          <p:cNvSpPr txBox="1"/>
          <p:nvPr/>
        </p:nvSpPr>
        <p:spPr>
          <a:xfrm>
            <a:off x="548640" y="1645920"/>
            <a:ext cx="1508760" cy="56692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DRAFT</a:t>
            </a:r>
            <a:endParaRPr lang="en-US" sz="1300" dirty="0"/>
          </a:p>
        </p:txBody>
      </p:sp>
      <p:sp>
        <p:nvSpPr>
          <p:cNvPr id="6" name="Text 3"/>
          <p:cNvSpPr txBox="1"/>
          <p:nvPr/>
        </p:nvSpPr>
        <p:spPr>
          <a:xfrm>
            <a:off x="457200"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being set up</a:t>
            </a:r>
            <a:endParaRPr lang="en-US" sz="1200" dirty="0"/>
          </a:p>
        </p:txBody>
      </p:sp>
      <p:sp>
        <p:nvSpPr>
          <p:cNvPr id="7" name="arrow-53"/>
          <p:cNvSpPr/>
          <p:nvPr/>
        </p:nvSpPr>
        <p:spPr>
          <a:xfrm>
            <a:off x="2057400" y="1929384"/>
            <a:ext cx="384048" cy="0"/>
          </a:xfrm>
          <a:prstGeom prst="line">
            <a:avLst/>
          </a:prstGeom>
          <a:noFill/>
          <a:ln w="22225">
            <a:solidFill>
              <a:schemeClr val="accent5"/>
            </a:solidFill>
            <a:prstDash val="solid"/>
            <a:tailEnd type="triangle"/>
          </a:ln>
        </p:spPr>
      </p:sp>
      <p:sp>
        <p:nvSpPr>
          <p:cNvPr id="8" name="state-54"/>
          <p:cNvSpPr txBox="1"/>
          <p:nvPr/>
        </p:nvSpPr>
        <p:spPr>
          <a:xfrm>
            <a:off x="2441448" y="1645920"/>
            <a:ext cx="1508760" cy="56692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OPEN</a:t>
            </a:r>
            <a:endParaRPr lang="en-US" sz="1300" dirty="0"/>
          </a:p>
        </p:txBody>
      </p:sp>
      <p:sp>
        <p:nvSpPr>
          <p:cNvPr id="9" name="Text 6"/>
          <p:cNvSpPr txBox="1"/>
          <p:nvPr/>
        </p:nvSpPr>
        <p:spPr>
          <a:xfrm>
            <a:off x="2350008"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students submit</a:t>
            </a:r>
            <a:endParaRPr lang="en-US" sz="1200" dirty="0"/>
          </a:p>
        </p:txBody>
      </p:sp>
      <p:sp>
        <p:nvSpPr>
          <p:cNvPr id="10" name="arrow-55"/>
          <p:cNvSpPr/>
          <p:nvPr/>
        </p:nvSpPr>
        <p:spPr>
          <a:xfrm>
            <a:off x="3950208" y="1929384"/>
            <a:ext cx="384048" cy="0"/>
          </a:xfrm>
          <a:prstGeom prst="line">
            <a:avLst/>
          </a:prstGeom>
          <a:noFill/>
          <a:ln w="22225">
            <a:solidFill>
              <a:schemeClr val="accent5"/>
            </a:solidFill>
            <a:prstDash val="solid"/>
            <a:tailEnd type="triangle"/>
          </a:ln>
        </p:spPr>
      </p:sp>
      <p:sp>
        <p:nvSpPr>
          <p:cNvPr id="11" name="state-56"/>
          <p:cNvSpPr txBox="1"/>
          <p:nvPr/>
        </p:nvSpPr>
        <p:spPr>
          <a:xfrm>
            <a:off x="4334256" y="1645920"/>
            <a:ext cx="1508760" cy="56692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LOCKED</a:t>
            </a:r>
            <a:endParaRPr lang="en-US" sz="1300" dirty="0"/>
          </a:p>
        </p:txBody>
      </p:sp>
      <p:sp>
        <p:nvSpPr>
          <p:cNvPr id="12" name="Text 9"/>
          <p:cNvSpPr txBox="1"/>
          <p:nvPr/>
        </p:nvSpPr>
        <p:spPr>
          <a:xfrm>
            <a:off x="4242816"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preferences frozen</a:t>
            </a:r>
            <a:endParaRPr lang="en-US" sz="1200" dirty="0"/>
          </a:p>
        </p:txBody>
      </p:sp>
      <p:sp>
        <p:nvSpPr>
          <p:cNvPr id="13" name="arrow-57"/>
          <p:cNvSpPr/>
          <p:nvPr/>
        </p:nvSpPr>
        <p:spPr>
          <a:xfrm>
            <a:off x="5843016" y="1929384"/>
            <a:ext cx="384048" cy="0"/>
          </a:xfrm>
          <a:prstGeom prst="line">
            <a:avLst/>
          </a:prstGeom>
          <a:noFill/>
          <a:ln w="22225">
            <a:solidFill>
              <a:schemeClr val="accent5"/>
            </a:solidFill>
            <a:prstDash val="solid"/>
            <a:tailEnd type="triangle"/>
          </a:ln>
        </p:spPr>
      </p:sp>
      <p:sp>
        <p:nvSpPr>
          <p:cNvPr id="14" name="state-58"/>
          <p:cNvSpPr txBox="1"/>
          <p:nvPr/>
        </p:nvSpPr>
        <p:spPr>
          <a:xfrm>
            <a:off x="6227064" y="1645920"/>
            <a:ext cx="1508760" cy="56692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ALLOCATED</a:t>
            </a:r>
            <a:endParaRPr lang="en-US" sz="1300" dirty="0"/>
          </a:p>
        </p:txBody>
      </p:sp>
      <p:sp>
        <p:nvSpPr>
          <p:cNvPr id="15" name="Text 12"/>
          <p:cNvSpPr txBox="1"/>
          <p:nvPr/>
        </p:nvSpPr>
        <p:spPr>
          <a:xfrm>
            <a:off x="6135624"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strategy has run</a:t>
            </a:r>
            <a:endParaRPr lang="en-US" sz="1200" dirty="0"/>
          </a:p>
        </p:txBody>
      </p:sp>
      <p:sp>
        <p:nvSpPr>
          <p:cNvPr id="16" name="arrow-59"/>
          <p:cNvSpPr/>
          <p:nvPr/>
        </p:nvSpPr>
        <p:spPr>
          <a:xfrm>
            <a:off x="7735824" y="1929384"/>
            <a:ext cx="384048" cy="0"/>
          </a:xfrm>
          <a:prstGeom prst="line">
            <a:avLst/>
          </a:prstGeom>
          <a:noFill/>
          <a:ln w="22225">
            <a:solidFill>
              <a:schemeClr val="accent5"/>
            </a:solidFill>
            <a:prstDash val="solid"/>
            <a:tailEnd type="triangle"/>
          </a:ln>
        </p:spPr>
      </p:sp>
      <p:sp>
        <p:nvSpPr>
          <p:cNvPr id="17" name="state-60"/>
          <p:cNvSpPr txBox="1"/>
          <p:nvPr/>
        </p:nvSpPr>
        <p:spPr>
          <a:xfrm>
            <a:off x="8119872" y="1645920"/>
            <a:ext cx="1508760" cy="56692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PUBLISHED</a:t>
            </a:r>
            <a:endParaRPr lang="en-US" sz="1300" dirty="0"/>
          </a:p>
        </p:txBody>
      </p:sp>
      <p:sp>
        <p:nvSpPr>
          <p:cNvPr id="18" name="Text 15"/>
          <p:cNvSpPr txBox="1"/>
          <p:nvPr/>
        </p:nvSpPr>
        <p:spPr>
          <a:xfrm>
            <a:off x="8028432"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results + notify all</a:t>
            </a:r>
            <a:endParaRPr lang="en-US" sz="1200" dirty="0"/>
          </a:p>
        </p:txBody>
      </p:sp>
      <p:sp>
        <p:nvSpPr>
          <p:cNvPr id="19" name="arrow-61"/>
          <p:cNvSpPr/>
          <p:nvPr/>
        </p:nvSpPr>
        <p:spPr>
          <a:xfrm>
            <a:off x="9628632" y="1929384"/>
            <a:ext cx="384048" cy="0"/>
          </a:xfrm>
          <a:prstGeom prst="line">
            <a:avLst/>
          </a:prstGeom>
          <a:noFill/>
          <a:ln w="22225">
            <a:solidFill>
              <a:schemeClr val="accent5"/>
            </a:solidFill>
            <a:prstDash val="solid"/>
            <a:tailEnd type="triangle"/>
          </a:ln>
        </p:spPr>
      </p:sp>
      <p:sp>
        <p:nvSpPr>
          <p:cNvPr id="20" name="state-62"/>
          <p:cNvSpPr txBox="1"/>
          <p:nvPr/>
        </p:nvSpPr>
        <p:spPr>
          <a:xfrm>
            <a:off x="10012680" y="1645920"/>
            <a:ext cx="1508760" cy="56692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CLOSED</a:t>
            </a:r>
            <a:endParaRPr lang="en-US" sz="1300" dirty="0"/>
          </a:p>
        </p:txBody>
      </p:sp>
      <p:sp>
        <p:nvSpPr>
          <p:cNvPr id="21" name="Text 18"/>
          <p:cNvSpPr txBox="1"/>
          <p:nvPr/>
        </p:nvSpPr>
        <p:spPr>
          <a:xfrm>
            <a:off x="9921240" y="2258568"/>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archived</a:t>
            </a:r>
            <a:endParaRPr lang="en-US" sz="1200" dirty="0"/>
          </a:p>
        </p:txBody>
      </p:sp>
      <p:graphicFrame>
        <p:nvGraphicFramePr>
          <p:cNvPr id="22" name="capacity-chart" descr=""/>
          <p:cNvGraphicFramePr/>
          <p:nvPr/>
        </p:nvGraphicFramePr>
        <p:xfrm>
          <a:off x="548640" y="2743200"/>
          <a:ext cx="5760720" cy="3520440"/>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1005840" y="4617720"/>
            <a:ext cx="1051560" cy="457200"/>
          </a:xfrm>
          <a:prstGeom prst="rect">
            <a:avLst/>
          </a:prstGeom>
          <a:noFill/>
          <a:ln/>
        </p:spPr>
        <p:txBody>
          <a:bodyPr wrap="square" lIns="0" tIns="0" rIns="0" bIns="0" rtlCol="0" anchor="ctr"/>
          <a:lstStyle/>
          <a:p>
            <a:pPr algn="ctr" indent="0" marL="0">
              <a:buNone/>
            </a:pPr>
            <a:r>
              <a:rPr lang="en-US" sz="1050" i="1" dirty="0">
                <a:solidFill>
                  <a:schemeClr val="accent4"/>
                </a:solidFill>
              </a:rPr>
              <a:t>does not run</a:t>
            </a:r>
            <a:endParaRPr lang="en-US" sz="1050" dirty="0"/>
          </a:p>
          <a:p>
            <a:pPr algn="ctr" indent="0" marL="0">
              <a:buNone/>
            </a:pPr>
            <a:r>
              <a:rPr lang="en-US" sz="1050" i="1" dirty="0">
                <a:solidFill>
                  <a:schemeClr val="accent4"/>
                </a:solidFill>
              </a:rPr>
              <a:t>(2 short of 40)</a:t>
            </a:r>
            <a:endParaRPr lang="en-US" sz="1050" dirty="0"/>
          </a:p>
        </p:txBody>
      </p:sp>
      <p:sp>
        <p:nvSpPr>
          <p:cNvPr id="24" name="Text 20"/>
          <p:cNvSpPr txBox="1"/>
          <p:nvPr/>
        </p:nvSpPr>
        <p:spPr>
          <a:xfrm>
            <a:off x="6675120" y="2743200"/>
            <a:ext cx="4937760" cy="320040"/>
          </a:xfrm>
          <a:prstGeom prst="rect">
            <a:avLst/>
          </a:prstGeom>
          <a:noFill/>
          <a:ln/>
        </p:spPr>
        <p:txBody>
          <a:bodyPr wrap="square" lIns="0" tIns="0" rIns="0" bIns="0" rtlCol="0" anchor="ctr"/>
          <a:lstStyle/>
          <a:p>
            <a:pPr indent="0" marL="0">
              <a:buNone/>
            </a:pPr>
            <a:r>
              <a:rPr lang="en-US" sz="1500" b="1" dirty="0">
                <a:solidFill>
                  <a:schemeClr val="tx2"/>
                </a:solidFill>
              </a:rPr>
              <a:t>Pluggable allocation strategies</a:t>
            </a:r>
            <a:endParaRPr lang="en-US" sz="1500" dirty="0"/>
          </a:p>
        </p:txBody>
      </p:sp>
      <p:sp>
        <p:nvSpPr>
          <p:cNvPr id="25" name="strat-63"/>
          <p:cNvSpPr txBox="1"/>
          <p:nvPr/>
        </p:nvSpPr>
        <p:spPr>
          <a:xfrm>
            <a:off x="6675120" y="3127248"/>
            <a:ext cx="4937760" cy="621792"/>
          </a:xfrm>
          <a:prstGeom prst="roundRect">
            <a:avLst>
              <a:gd name="adj" fmla="val 11765"/>
            </a:avLst>
          </a:prstGeom>
          <a:solidFill>
            <a:schemeClr val="bg1"/>
          </a:solidFill>
          <a:ln w="6350">
            <a:solidFill>
              <a:schemeClr val="accent5"/>
            </a:solidFill>
            <a:prstDash val="solid"/>
          </a:ln>
        </p:spPr>
        <p:txBody>
          <a:bodyPr wrap="square" lIns="50800" tIns="50800" rIns="50800" bIns="50800" rtlCol="0" anchor="ctr"/>
          <a:lstStyle/>
          <a:p>
            <a:pPr algn="ctr" indent="0" marL="0">
              <a:buNone/>
            </a:pPr>
            <a:endParaRPr lang="en-US" sz="1400" dirty="0"/>
          </a:p>
        </p:txBody>
      </p:sp>
      <p:sp>
        <p:nvSpPr>
          <p:cNvPr id="26" name="Text 22"/>
          <p:cNvSpPr txBox="1"/>
          <p:nvPr/>
        </p:nvSpPr>
        <p:spPr>
          <a:xfrm>
            <a:off x="6812280" y="3182112"/>
            <a:ext cx="2103120" cy="256032"/>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manual</a:t>
            </a:r>
            <a:endParaRPr lang="en-US" sz="1300" dirty="0"/>
          </a:p>
        </p:txBody>
      </p:sp>
      <p:sp>
        <p:nvSpPr>
          <p:cNvPr id="27" name="Text 23"/>
          <p:cNvSpPr txBox="1"/>
          <p:nvPr/>
        </p:nvSpPr>
        <p:spPr>
          <a:xfrm>
            <a:off x="6812280" y="3438144"/>
            <a:ext cx="3429000" cy="274320"/>
          </a:xfrm>
          <a:prstGeom prst="rect">
            <a:avLst/>
          </a:prstGeom>
          <a:noFill/>
          <a:ln/>
        </p:spPr>
        <p:txBody>
          <a:bodyPr wrap="square" lIns="0" tIns="0" rIns="0" bIns="0" rtlCol="0" anchor="ctr"/>
          <a:lstStyle/>
          <a:p>
            <a:pPr indent="0" marL="0">
              <a:buNone/>
            </a:pPr>
            <a:r>
              <a:rPr lang="en-US" sz="1150" dirty="0">
                <a:solidFill>
                  <a:schemeClr val="tx1"/>
                </a:solidFill>
              </a:rPr>
              <a:t>Coordinator assigns seats by hand</a:t>
            </a:r>
            <a:endParaRPr lang="en-US" sz="1150" dirty="0"/>
          </a:p>
        </p:txBody>
      </p:sp>
      <p:sp>
        <p:nvSpPr>
          <p:cNvPr id="28" name="tag-64"/>
          <p:cNvSpPr txBox="1"/>
          <p:nvPr/>
        </p:nvSpPr>
        <p:spPr>
          <a:xfrm>
            <a:off x="10241280" y="3310128"/>
            <a:ext cx="128016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9" name="strat-65"/>
          <p:cNvSpPr txBox="1"/>
          <p:nvPr/>
        </p:nvSpPr>
        <p:spPr>
          <a:xfrm>
            <a:off x="6675120" y="3840480"/>
            <a:ext cx="4937760" cy="621792"/>
          </a:xfrm>
          <a:prstGeom prst="roundRect">
            <a:avLst>
              <a:gd name="adj" fmla="val 11765"/>
            </a:avLst>
          </a:prstGeom>
          <a:solidFill>
            <a:schemeClr val="bg1"/>
          </a:solidFill>
          <a:ln w="6350">
            <a:solidFill>
              <a:schemeClr val="accent5"/>
            </a:solidFill>
            <a:prstDash val="solid"/>
          </a:ln>
        </p:spPr>
        <p:txBody>
          <a:bodyPr wrap="square" lIns="50800" tIns="50800" rIns="50800" bIns="50800" rtlCol="0" anchor="ctr"/>
          <a:lstStyle/>
          <a:p>
            <a:pPr algn="ctr" indent="0" marL="0">
              <a:buNone/>
            </a:pPr>
            <a:endParaRPr lang="en-US" sz="1400" dirty="0"/>
          </a:p>
        </p:txBody>
      </p:sp>
      <p:sp>
        <p:nvSpPr>
          <p:cNvPr id="30" name="Text 26"/>
          <p:cNvSpPr txBox="1"/>
          <p:nvPr/>
        </p:nvSpPr>
        <p:spPr>
          <a:xfrm>
            <a:off x="6812280" y="3895344"/>
            <a:ext cx="2103120" cy="256032"/>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preference_order</a:t>
            </a:r>
            <a:endParaRPr lang="en-US" sz="1300" dirty="0"/>
          </a:p>
        </p:txBody>
      </p:sp>
      <p:sp>
        <p:nvSpPr>
          <p:cNvPr id="31" name="Text 27"/>
          <p:cNvSpPr txBox="1"/>
          <p:nvPr/>
        </p:nvSpPr>
        <p:spPr>
          <a:xfrm>
            <a:off x="6812280" y="4151376"/>
            <a:ext cx="3429000" cy="274320"/>
          </a:xfrm>
          <a:prstGeom prst="rect">
            <a:avLst/>
          </a:prstGeom>
          <a:noFill/>
          <a:ln/>
        </p:spPr>
        <p:txBody>
          <a:bodyPr wrap="square" lIns="0" tIns="0" rIns="0" bIns="0" rtlCol="0" anchor="ctr"/>
          <a:lstStyle/>
          <a:p>
            <a:pPr indent="0" marL="0">
              <a:buNone/>
            </a:pPr>
            <a:r>
              <a:rPr lang="en-US" sz="1150" dirty="0">
                <a:solidFill>
                  <a:schemeClr val="tx1"/>
                </a:solidFill>
              </a:rPr>
              <a:t>Round N: everyone's Nth choice, earliest first</a:t>
            </a:r>
            <a:endParaRPr lang="en-US" sz="1150" dirty="0"/>
          </a:p>
        </p:txBody>
      </p:sp>
      <p:sp>
        <p:nvSpPr>
          <p:cNvPr id="32" name="tag-66"/>
          <p:cNvSpPr txBox="1"/>
          <p:nvPr/>
        </p:nvSpPr>
        <p:spPr>
          <a:xfrm>
            <a:off x="10241280" y="4023360"/>
            <a:ext cx="128016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33" name="strat-67"/>
          <p:cNvSpPr txBox="1"/>
          <p:nvPr/>
        </p:nvSpPr>
        <p:spPr>
          <a:xfrm>
            <a:off x="6675120" y="4553712"/>
            <a:ext cx="4937760" cy="621792"/>
          </a:xfrm>
          <a:prstGeom prst="roundRect">
            <a:avLst>
              <a:gd name="adj" fmla="val 11765"/>
            </a:avLst>
          </a:prstGeom>
          <a:solidFill>
            <a:schemeClr val="bg1"/>
          </a:solidFill>
          <a:ln w="6350">
            <a:solidFill>
              <a:schemeClr val="accent5"/>
            </a:solidFill>
            <a:prstDash val="solid"/>
          </a:ln>
        </p:spPr>
        <p:txBody>
          <a:bodyPr wrap="square" lIns="50800" tIns="50800" rIns="50800" bIns="50800" rtlCol="0" anchor="ctr"/>
          <a:lstStyle/>
          <a:p>
            <a:pPr algn="ctr" indent="0" marL="0">
              <a:buNone/>
            </a:pPr>
            <a:endParaRPr lang="en-US" sz="1400" dirty="0"/>
          </a:p>
        </p:txBody>
      </p:sp>
      <p:sp>
        <p:nvSpPr>
          <p:cNvPr id="34" name="Text 30"/>
          <p:cNvSpPr txBox="1"/>
          <p:nvPr/>
        </p:nvSpPr>
        <p:spPr>
          <a:xfrm>
            <a:off x="6812280" y="4608576"/>
            <a:ext cx="2103120" cy="256032"/>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merit</a:t>
            </a:r>
            <a:endParaRPr lang="en-US" sz="1300" dirty="0"/>
          </a:p>
        </p:txBody>
      </p:sp>
      <p:sp>
        <p:nvSpPr>
          <p:cNvPr id="35" name="Text 31"/>
          <p:cNvSpPr txBox="1"/>
          <p:nvPr/>
        </p:nvSpPr>
        <p:spPr>
          <a:xfrm>
            <a:off x="6812280" y="4864608"/>
            <a:ext cx="3429000" cy="274320"/>
          </a:xfrm>
          <a:prstGeom prst="rect">
            <a:avLst/>
          </a:prstGeom>
          <a:noFill/>
          <a:ln/>
        </p:spPr>
        <p:txBody>
          <a:bodyPr wrap="square" lIns="0" tIns="0" rIns="0" bIns="0" rtlCol="0" anchor="ctr"/>
          <a:lstStyle/>
          <a:p>
            <a:pPr indent="0" marL="0">
              <a:buNone/>
            </a:pPr>
            <a:r>
              <a:rPr lang="en-US" sz="1150" dirty="0">
                <a:solidFill>
                  <a:schemeClr val="tx1"/>
                </a:solidFill>
              </a:rPr>
              <a:t>Declared; refuses to run until faculty give the formula</a:t>
            </a:r>
            <a:endParaRPr lang="en-US" sz="1150" dirty="0"/>
          </a:p>
        </p:txBody>
      </p:sp>
      <p:sp>
        <p:nvSpPr>
          <p:cNvPr id="36" name="tag-68"/>
          <p:cNvSpPr txBox="1"/>
          <p:nvPr/>
        </p:nvSpPr>
        <p:spPr>
          <a:xfrm>
            <a:off x="10241280" y="4736592"/>
            <a:ext cx="1005840" cy="256032"/>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100" kern="0" dirty="0">
                <a:solidFill>
                  <a:schemeClr val="bg1"/>
                </a:solidFill>
              </a:rPr>
              <a:t>PLANNED</a:t>
            </a:r>
            <a:endParaRPr lang="en-US" sz="1000" dirty="0"/>
          </a:p>
        </p:txBody>
      </p:sp>
      <p:sp>
        <p:nvSpPr>
          <p:cNvPr id="37" name="rules-69"/>
          <p:cNvSpPr txBox="1"/>
          <p:nvPr/>
        </p:nvSpPr>
        <p:spPr>
          <a:xfrm>
            <a:off x="6675120" y="5330952"/>
            <a:ext cx="4937760" cy="566928"/>
          </a:xfrm>
          <a:prstGeom prst="roundRect">
            <a:avLst>
              <a:gd name="adj" fmla="val 12903"/>
            </a:avLst>
          </a:prstGeom>
          <a:solidFill>
            <a:schemeClr val="bg2"/>
          </a:solidFill>
          <a:ln/>
        </p:spPr>
        <p:txBody>
          <a:bodyPr wrap="square" lIns="101600" tIns="101600" rIns="101600" bIns="101600" rtlCol="0" anchor="ctr"/>
          <a:lstStyle/>
          <a:p>
            <a:pPr algn="l" indent="0" marL="0">
              <a:buNone/>
            </a:pPr>
            <a:r>
              <a:rPr lang="en-US" sz="1200" b="1" dirty="0">
                <a:solidFill>
                  <a:schemeClr val="tx2"/>
                </a:solidFill>
              </a:rPr>
              <a:t>Open Elective: </a:t>
            </a:r>
            <a:pPr algn="l" indent="0" marL="0">
              <a:buNone/>
            </a:pPr>
            <a:r>
              <a:rPr lang="en-US" sz="1200" dirty="0">
                <a:solidFill>
                  <a:schemeClr val="tx1"/>
                </a:solidFill>
              </a:rPr>
              <a:t>≥ 40 to run, 75 per section.  </a:t>
            </a:r>
            <a:pPr algn="l" indent="0" marL="0">
              <a:buNone/>
            </a:pPr>
            <a:r>
              <a:rPr lang="en-US" sz="1200" b="1" dirty="0">
                <a:solidFill>
                  <a:schemeClr val="tx2"/>
                </a:solidFill>
              </a:rPr>
              <a:t>Core Elective: </a:t>
            </a:r>
            <a:pPr algn="l" indent="0" marL="0">
              <a:buNone/>
            </a:pPr>
            <a:r>
              <a:rPr lang="en-US" sz="1200" dirty="0">
                <a:solidFill>
                  <a:schemeClr val="tx1"/>
                </a:solidFill>
              </a:rPr>
              <a:t>40 across all divisions, no cap.</a:t>
            </a:r>
            <a:endParaRPr lang="en-US" sz="1200" dirty="0"/>
          </a:p>
        </p:txBody>
      </p:sp>
      <p:sp>
        <p:nvSpPr>
          <p:cNvPr id="38" name="tag-70"/>
          <p:cNvSpPr txBox="1"/>
          <p:nvPr/>
        </p:nvSpPr>
        <p:spPr>
          <a:xfrm>
            <a:off x="6675120" y="6035040"/>
            <a:ext cx="8686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PARTIAL</a:t>
            </a:r>
            <a:endParaRPr lang="en-US" sz="1000" dirty="0"/>
          </a:p>
        </p:txBody>
      </p:sp>
      <p:sp>
        <p:nvSpPr>
          <p:cNvPr id="39" name="Text 35"/>
          <p:cNvSpPr txBox="1"/>
          <p:nvPr/>
        </p:nvSpPr>
        <p:spPr>
          <a:xfrm>
            <a:off x="7635240" y="5980176"/>
            <a:ext cx="4023360" cy="365760"/>
          </a:xfrm>
          <a:prstGeom prst="rect">
            <a:avLst/>
          </a:prstGeom>
          <a:noFill/>
          <a:ln/>
        </p:spPr>
        <p:txBody>
          <a:bodyPr wrap="square" lIns="0" tIns="0" rIns="0" bIns="0" rtlCol="0" anchor="ctr"/>
          <a:lstStyle/>
          <a:p>
            <a:pPr indent="0" marL="0">
              <a:buNone/>
            </a:pPr>
            <a:r>
              <a:rPr lang="en-US" sz="1150" dirty="0">
                <a:solidFill>
                  <a:schemeClr val="accent3"/>
                </a:solidFill>
              </a:rPr>
              <a:t>No coordinator round-management screen yet — rounds run via the API</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Internships: one engine, many programmes</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CSSI, Summer, Rural Internship and Industrial Training are configuration rows — they share every route, service and screen</a:t>
            </a:r>
            <a:endParaRPr lang="en-US" sz="1600" dirty="0"/>
          </a:p>
        </p:txBody>
      </p:sp>
      <p:graphicFrame>
        <p:nvGraphicFramePr>
          <p:cNvPr id="6" name="intern-table-71"/>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1737360"/>
                <a:gridCol w="1920240"/>
                <a:gridCol w="2194560"/>
              </a:tblGrid>
              <a:tr h="438912">
                <a:tc>
                  <a:txBody>
                    <a:bodyPr/>
                    <a:lstStyle/>
                    <a:p>
                      <a:pPr indent="0" marL="0">
                        <a:buNone/>
                      </a:pPr>
                      <a:r>
                        <a:rPr lang="en-US" sz="1300" b="1" dirty="0">
                          <a:solidFill>
                            <a:schemeClr val="bg1"/>
                          </a:solidFill>
                        </a:rPr>
                        <a:t>Config field</a:t>
                      </a:r>
                      <a:endParaRPr lang="en-US" sz="13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CSSI</a:t>
                      </a:r>
                      <a:endParaRPr lang="en-US" sz="13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Summer Internship</a:t>
                      </a:r>
                      <a:endParaRPr lang="en-US" sz="130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438912">
                <a:tc>
                  <a:txBody>
                    <a:bodyPr/>
                    <a:lstStyle/>
                    <a:p>
                      <a:pPr indent="0" marL="0">
                        <a:buNone/>
                      </a:pPr>
                      <a:r>
                        <a:rPr lang="en-US" sz="1250" b="1" dirty="0">
                          <a:solidFill>
                            <a:schemeClr val="tx1"/>
                          </a:solidFill>
                        </a:rPr>
                        <a:t>requires_group</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Yes (size 10)</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38912">
                <a:tc>
                  <a:txBody>
                    <a:bodyPr/>
                    <a:lstStyle/>
                    <a:p>
                      <a:pPr indent="0" marL="0">
                        <a:buNone/>
                      </a:pPr>
                      <a:r>
                        <a:rPr lang="en-US" sz="1250" b="1" dirty="0">
                          <a:solidFill>
                            <a:schemeClr val="tx1"/>
                          </a:solidFill>
                        </a:rPr>
                        <a:t>report_frequency</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Weekly, 8 expected</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38912">
                <a:tc>
                  <a:txBody>
                    <a:bodyPr/>
                    <a:lstStyle/>
                    <a:p>
                      <a:pPr indent="0" marL="0">
                        <a:buNone/>
                      </a:pPr>
                      <a:r>
                        <a:rPr lang="en-US" sz="1250" b="1" dirty="0">
                          <a:solidFill>
                            <a:schemeClr val="tx1"/>
                          </a:solidFill>
                        </a:rPr>
                        <a:t>industry mentor</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Yes</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38912">
                <a:tc>
                  <a:txBody>
                    <a:bodyPr/>
                    <a:lstStyle/>
                    <a:p>
                      <a:pPr indent="0" marL="0">
                        <a:buNone/>
                      </a:pPr>
                      <a:r>
                        <a:rPr lang="en-US" sz="1250" b="1" dirty="0">
                          <a:solidFill>
                            <a:schemeClr val="tx1"/>
                          </a:solidFill>
                        </a:rPr>
                        <a:t>organisation types</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NGO</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Company / startup / lab</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38912">
                <a:tc>
                  <a:txBody>
                    <a:bodyPr/>
                    <a:lstStyle/>
                    <a:p>
                      <a:pPr indent="0" marL="0">
                        <a:buNone/>
                      </a:pPr>
                      <a:r>
                        <a:rPr lang="en-US" sz="1250" b="1" dirty="0">
                          <a:solidFill>
                            <a:schemeClr val="tx1"/>
                          </a:solidFill>
                        </a:rPr>
                        <a:t>stages</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8 → poster + presentation</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8 → final report + viva</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38912">
                <a:tc>
                  <a:txBody>
                    <a:bodyPr/>
                    <a:lstStyle/>
                    <a:p>
                      <a:pPr indent="0" marL="0">
                        <a:buNone/>
                      </a:pPr>
                      <a:r>
                        <a:rPr lang="en-US" sz="1250" b="1" dirty="0">
                          <a:solidFill>
                            <a:schemeClr val="tx1"/>
                          </a:solidFill>
                        </a:rPr>
                        <a:t>rubric</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5 criteria, 50 marks</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5 criteria, 100 marks</a:t>
                      </a:r>
                      <a:endParaRPr lang="en-US" sz="1250" dirty="0"/>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6766560" y="1691640"/>
            <a:ext cx="4846320" cy="320040"/>
          </a:xfrm>
          <a:prstGeom prst="rect">
            <a:avLst/>
          </a:prstGeom>
          <a:noFill/>
          <a:ln/>
        </p:spPr>
        <p:txBody>
          <a:bodyPr wrap="square" lIns="0" tIns="0" rIns="0" bIns="0" rtlCol="0" anchor="ctr"/>
          <a:lstStyle/>
          <a:p>
            <a:pPr indent="0" marL="0">
              <a:buNone/>
            </a:pPr>
            <a:r>
              <a:rPr lang="en-US" sz="1400" b="1" dirty="0">
                <a:solidFill>
                  <a:schemeClr val="tx2"/>
                </a:solidFill>
              </a:rPr>
              <a:t>Stage lifecycle (owner_role decides who advances it)</a:t>
            </a:r>
            <a:endParaRPr lang="en-US" sz="1400" dirty="0"/>
          </a:p>
        </p:txBody>
      </p:sp>
      <p:sp>
        <p:nvSpPr>
          <p:cNvPr id="7" name="stage-72"/>
          <p:cNvSpPr txBox="1"/>
          <p:nvPr/>
        </p:nvSpPr>
        <p:spPr>
          <a:xfrm>
            <a:off x="6766560" y="2194560"/>
            <a:ext cx="1371600" cy="502920"/>
          </a:xfrm>
          <a:prstGeom prst="roundRect">
            <a:avLst>
              <a:gd name="adj" fmla="val 49091"/>
            </a:avLst>
          </a:prstGeom>
          <a:solidFill>
            <a:schemeClr val="accent5"/>
          </a:solidFill>
          <a:ln/>
        </p:spPr>
        <p:txBody>
          <a:bodyPr wrap="square" lIns="0" tIns="0" rIns="0" bIns="0" rtlCol="0" anchor="ctr"/>
          <a:lstStyle/>
          <a:p>
            <a:pPr algn="ctr" indent="0" marL="0">
              <a:buNone/>
            </a:pPr>
            <a:r>
              <a:rPr lang="en-US" sz="1200" b="1" dirty="0">
                <a:solidFill>
                  <a:schemeClr val="bg1"/>
                </a:solidFill>
              </a:rPr>
              <a:t>PENDING</a:t>
            </a:r>
            <a:endParaRPr lang="en-US" sz="1200" dirty="0"/>
          </a:p>
        </p:txBody>
      </p:sp>
      <p:sp>
        <p:nvSpPr>
          <p:cNvPr id="8" name="stage-73"/>
          <p:cNvSpPr txBox="1"/>
          <p:nvPr/>
        </p:nvSpPr>
        <p:spPr>
          <a:xfrm>
            <a:off x="8503920" y="2194560"/>
            <a:ext cx="1371600" cy="502920"/>
          </a:xfrm>
          <a:prstGeom prst="roundRect">
            <a:avLst>
              <a:gd name="adj" fmla="val 49091"/>
            </a:avLst>
          </a:prstGeom>
          <a:solidFill>
            <a:schemeClr val="accent6"/>
          </a:solidFill>
          <a:ln/>
        </p:spPr>
        <p:txBody>
          <a:bodyPr wrap="square" lIns="0" tIns="0" rIns="0" bIns="0" rtlCol="0" anchor="ctr"/>
          <a:lstStyle/>
          <a:p>
            <a:pPr algn="ctr" indent="0" marL="0">
              <a:buNone/>
            </a:pPr>
            <a:r>
              <a:rPr lang="en-US" sz="1200" b="1" dirty="0">
                <a:solidFill>
                  <a:schemeClr val="bg1"/>
                </a:solidFill>
              </a:rPr>
              <a:t>IN_PROGRESS</a:t>
            </a:r>
            <a:endParaRPr lang="en-US" sz="1200" dirty="0"/>
          </a:p>
        </p:txBody>
      </p:sp>
      <p:sp>
        <p:nvSpPr>
          <p:cNvPr id="9" name="stage-74"/>
          <p:cNvSpPr txBox="1"/>
          <p:nvPr/>
        </p:nvSpPr>
        <p:spPr>
          <a:xfrm>
            <a:off x="10241280" y="2194560"/>
            <a:ext cx="1371600" cy="502920"/>
          </a:xfrm>
          <a:prstGeom prst="roundRect">
            <a:avLst>
              <a:gd name="adj" fmla="val 49091"/>
            </a:avLst>
          </a:prstGeom>
          <a:solidFill>
            <a:schemeClr val="accent1"/>
          </a:solidFill>
          <a:ln/>
        </p:spPr>
        <p:txBody>
          <a:bodyPr wrap="square" lIns="0" tIns="0" rIns="0" bIns="0" rtlCol="0" anchor="ctr"/>
          <a:lstStyle/>
          <a:p>
            <a:pPr algn="ctr" indent="0" marL="0">
              <a:buNone/>
            </a:pPr>
            <a:r>
              <a:rPr lang="en-US" sz="1200" b="1" dirty="0">
                <a:solidFill>
                  <a:schemeClr val="bg1"/>
                </a:solidFill>
              </a:rPr>
              <a:t>SUBMITTED</a:t>
            </a:r>
            <a:endParaRPr lang="en-US" sz="1200" dirty="0"/>
          </a:p>
        </p:txBody>
      </p:sp>
      <p:sp>
        <p:nvSpPr>
          <p:cNvPr id="10" name="stage-75"/>
          <p:cNvSpPr txBox="1"/>
          <p:nvPr/>
        </p:nvSpPr>
        <p:spPr>
          <a:xfrm>
            <a:off x="10241280" y="3246120"/>
            <a:ext cx="1371600" cy="502920"/>
          </a:xfrm>
          <a:prstGeom prst="roundRect">
            <a:avLst>
              <a:gd name="adj" fmla="val 49091"/>
            </a:avLst>
          </a:prstGeom>
          <a:solidFill>
            <a:schemeClr val="accent2"/>
          </a:solidFill>
          <a:ln/>
        </p:spPr>
        <p:txBody>
          <a:bodyPr wrap="square" lIns="0" tIns="0" rIns="0" bIns="0" rtlCol="0" anchor="ctr"/>
          <a:lstStyle/>
          <a:p>
            <a:pPr algn="ctr" indent="0" marL="0">
              <a:buNone/>
            </a:pPr>
            <a:r>
              <a:rPr lang="en-US" sz="1200" b="1" dirty="0">
                <a:solidFill>
                  <a:schemeClr val="bg1"/>
                </a:solidFill>
              </a:rPr>
              <a:t>APPROVED</a:t>
            </a:r>
            <a:endParaRPr lang="en-US" sz="1200" dirty="0"/>
          </a:p>
        </p:txBody>
      </p:sp>
      <p:sp>
        <p:nvSpPr>
          <p:cNvPr id="11" name="stage-76"/>
          <p:cNvSpPr txBox="1"/>
          <p:nvPr/>
        </p:nvSpPr>
        <p:spPr>
          <a:xfrm>
            <a:off x="8503920" y="3246120"/>
            <a:ext cx="1371600" cy="502920"/>
          </a:xfrm>
          <a:prstGeom prst="roundRect">
            <a:avLst>
              <a:gd name="adj" fmla="val 49091"/>
            </a:avLst>
          </a:prstGeom>
          <a:solidFill>
            <a:schemeClr val="accent4"/>
          </a:solidFill>
          <a:ln/>
        </p:spPr>
        <p:txBody>
          <a:bodyPr wrap="square" lIns="0" tIns="0" rIns="0" bIns="0" rtlCol="0" anchor="ctr"/>
          <a:lstStyle/>
          <a:p>
            <a:pPr algn="ctr" indent="0" marL="0">
              <a:buNone/>
            </a:pPr>
            <a:r>
              <a:rPr lang="en-US" sz="1200" b="1" dirty="0">
                <a:solidFill>
                  <a:schemeClr val="bg1"/>
                </a:solidFill>
              </a:rPr>
              <a:t>REJECTED</a:t>
            </a:r>
            <a:endParaRPr lang="en-US" sz="1200" dirty="0"/>
          </a:p>
        </p:txBody>
      </p:sp>
      <p:sp>
        <p:nvSpPr>
          <p:cNvPr id="12" name="arrow-77"/>
          <p:cNvSpPr/>
          <p:nvPr/>
        </p:nvSpPr>
        <p:spPr>
          <a:xfrm>
            <a:off x="8138160" y="2441448"/>
            <a:ext cx="365760" cy="0"/>
          </a:xfrm>
          <a:prstGeom prst="line">
            <a:avLst/>
          </a:prstGeom>
          <a:noFill/>
          <a:ln w="22225">
            <a:solidFill>
              <a:schemeClr val="accent5"/>
            </a:solidFill>
            <a:prstDash val="solid"/>
            <a:tailEnd type="triangle"/>
          </a:ln>
        </p:spPr>
      </p:sp>
      <p:sp>
        <p:nvSpPr>
          <p:cNvPr id="13" name="arrow-78"/>
          <p:cNvSpPr/>
          <p:nvPr/>
        </p:nvSpPr>
        <p:spPr>
          <a:xfrm>
            <a:off x="9875520" y="2441448"/>
            <a:ext cx="365760" cy="0"/>
          </a:xfrm>
          <a:prstGeom prst="line">
            <a:avLst/>
          </a:prstGeom>
          <a:noFill/>
          <a:ln w="22225">
            <a:solidFill>
              <a:schemeClr val="accent5"/>
            </a:solidFill>
            <a:prstDash val="solid"/>
            <a:tailEnd type="triangle"/>
          </a:ln>
        </p:spPr>
      </p:sp>
      <p:sp>
        <p:nvSpPr>
          <p:cNvPr id="14" name="arrow-79"/>
          <p:cNvSpPr/>
          <p:nvPr/>
        </p:nvSpPr>
        <p:spPr>
          <a:xfrm>
            <a:off x="10927080" y="2697480"/>
            <a:ext cx="0" cy="548640"/>
          </a:xfrm>
          <a:prstGeom prst="line">
            <a:avLst/>
          </a:prstGeom>
          <a:noFill/>
          <a:ln w="22225">
            <a:solidFill>
              <a:schemeClr val="accent5"/>
            </a:solidFill>
            <a:prstDash val="solid"/>
            <a:tailEnd type="triangle"/>
          </a:ln>
        </p:spPr>
      </p:sp>
      <p:sp>
        <p:nvSpPr>
          <p:cNvPr id="15" name="arrowlabel-80"/>
          <p:cNvSpPr txBox="1"/>
          <p:nvPr/>
        </p:nvSpPr>
        <p:spPr>
          <a:xfrm>
            <a:off x="10972800" y="2834640"/>
            <a:ext cx="1097280" cy="274320"/>
          </a:xfrm>
          <a:prstGeom prst="rect">
            <a:avLst/>
          </a:prstGeom>
          <a:noFill/>
          <a:ln/>
        </p:spPr>
        <p:txBody>
          <a:bodyPr wrap="square" lIns="0" tIns="0" rIns="0" bIns="0" rtlCol="0" anchor="ctr"/>
          <a:lstStyle/>
          <a:p>
            <a:pPr algn="ctr" indent="0" marL="0">
              <a:buNone/>
            </a:pPr>
            <a:r>
              <a:rPr lang="en-US" sz="1000" i="1" dirty="0">
                <a:solidFill>
                  <a:schemeClr val="accent5"/>
                </a:solidFill>
              </a:rPr>
              <a:t>mentor approves</a:t>
            </a:r>
            <a:endParaRPr lang="en-US" sz="1000" dirty="0"/>
          </a:p>
        </p:txBody>
      </p:sp>
      <p:sp>
        <p:nvSpPr>
          <p:cNvPr id="16" name="arrow-81"/>
          <p:cNvSpPr/>
          <p:nvPr/>
        </p:nvSpPr>
        <p:spPr>
          <a:xfrm flipH="1">
            <a:off x="9509760" y="2697480"/>
            <a:ext cx="914400" cy="548640"/>
          </a:xfrm>
          <a:prstGeom prst="line">
            <a:avLst/>
          </a:prstGeom>
          <a:noFill/>
          <a:ln w="22225">
            <a:solidFill>
              <a:schemeClr val="accent5"/>
            </a:solidFill>
            <a:prstDash val="solid"/>
            <a:tailEnd type="triangle"/>
          </a:ln>
        </p:spPr>
      </p:sp>
      <p:sp>
        <p:nvSpPr>
          <p:cNvPr id="17" name="arrow-82"/>
          <p:cNvSpPr/>
          <p:nvPr/>
        </p:nvSpPr>
        <p:spPr>
          <a:xfrm flipV="1">
            <a:off x="8869680" y="2697480"/>
            <a:ext cx="0" cy="548640"/>
          </a:xfrm>
          <a:prstGeom prst="line">
            <a:avLst/>
          </a:prstGeom>
          <a:noFill/>
          <a:ln w="22225">
            <a:solidFill>
              <a:schemeClr val="accent4"/>
            </a:solidFill>
            <a:prstDash val="dash"/>
            <a:tailEnd type="triangle"/>
          </a:ln>
        </p:spPr>
      </p:sp>
      <p:sp>
        <p:nvSpPr>
          <p:cNvPr id="18" name="Text 14"/>
          <p:cNvSpPr txBox="1"/>
          <p:nvPr/>
        </p:nvSpPr>
        <p:spPr>
          <a:xfrm>
            <a:off x="7086600" y="2834640"/>
            <a:ext cx="1828800" cy="274320"/>
          </a:xfrm>
          <a:prstGeom prst="rect">
            <a:avLst/>
          </a:prstGeom>
          <a:noFill/>
          <a:ln/>
        </p:spPr>
        <p:txBody>
          <a:bodyPr wrap="square" lIns="0" tIns="0" rIns="0" bIns="0" rtlCol="0" anchor="ctr"/>
          <a:lstStyle/>
          <a:p>
            <a:pPr indent="0" marL="0">
              <a:buNone/>
            </a:pPr>
            <a:r>
              <a:rPr lang="en-US" sz="1000" i="1" dirty="0">
                <a:solidFill>
                  <a:schemeClr val="accent5"/>
                </a:solidFill>
              </a:rPr>
              <a:t>student resubmits</a:t>
            </a:r>
            <a:endParaRPr lang="en-US" sz="1000" dirty="0"/>
          </a:p>
        </p:txBody>
      </p:sp>
      <p:sp>
        <p:nvSpPr>
          <p:cNvPr id="19" name="Text 15"/>
          <p:cNvSpPr txBox="1"/>
          <p:nvPr/>
        </p:nvSpPr>
        <p:spPr>
          <a:xfrm>
            <a:off x="6766560" y="4023360"/>
            <a:ext cx="4846320" cy="320040"/>
          </a:xfrm>
          <a:prstGeom prst="rect">
            <a:avLst/>
          </a:prstGeom>
          <a:noFill/>
          <a:ln/>
        </p:spPr>
        <p:txBody>
          <a:bodyPr wrap="square" lIns="0" tIns="0" rIns="0" bIns="0" rtlCol="0" anchor="ctr"/>
          <a:lstStyle/>
          <a:p>
            <a:pPr indent="0" marL="0">
              <a:buNone/>
            </a:pPr>
            <a:r>
              <a:rPr lang="en-US" sz="1400" b="1" dirty="0">
                <a:solidFill>
                  <a:schemeClr val="tx2"/>
                </a:solidFill>
              </a:rPr>
              <a:t>Document review (every stage's evidence)</a:t>
            </a:r>
            <a:endParaRPr lang="en-US" sz="1400" dirty="0"/>
          </a:p>
        </p:txBody>
      </p:sp>
      <p:sp>
        <p:nvSpPr>
          <p:cNvPr id="20" name="doc-83"/>
          <p:cNvSpPr txBox="1"/>
          <p:nvPr/>
        </p:nvSpPr>
        <p:spPr>
          <a:xfrm>
            <a:off x="6766560" y="4434840"/>
            <a:ext cx="1371600" cy="411480"/>
          </a:xfrm>
          <a:prstGeom prst="roundRect">
            <a:avLst>
              <a:gd name="adj" fmla="val 48889"/>
            </a:avLst>
          </a:prstGeom>
          <a:solidFill>
            <a:schemeClr val="accent1"/>
          </a:solidFill>
          <a:ln/>
        </p:spPr>
        <p:txBody>
          <a:bodyPr wrap="square" lIns="0" tIns="0" rIns="0" bIns="0" rtlCol="0" anchor="ctr"/>
          <a:lstStyle/>
          <a:p>
            <a:pPr algn="ctr" indent="0" marL="0">
              <a:buNone/>
            </a:pPr>
            <a:r>
              <a:rPr lang="en-US" sz="1100" b="1" dirty="0">
                <a:solidFill>
                  <a:schemeClr val="bg1"/>
                </a:solidFill>
              </a:rPr>
              <a:t>SUBMITTED</a:t>
            </a:r>
            <a:endParaRPr lang="en-US" sz="1100" dirty="0"/>
          </a:p>
        </p:txBody>
      </p:sp>
      <p:sp>
        <p:nvSpPr>
          <p:cNvPr id="21" name="arrow-84"/>
          <p:cNvSpPr/>
          <p:nvPr/>
        </p:nvSpPr>
        <p:spPr>
          <a:xfrm>
            <a:off x="8138160" y="4636008"/>
            <a:ext cx="274320" cy="0"/>
          </a:xfrm>
          <a:prstGeom prst="line">
            <a:avLst/>
          </a:prstGeom>
          <a:noFill/>
          <a:ln w="22225">
            <a:solidFill>
              <a:schemeClr val="accent5"/>
            </a:solidFill>
            <a:prstDash val="solid"/>
            <a:tailEnd type="triangle"/>
          </a:ln>
        </p:spPr>
      </p:sp>
      <p:sp>
        <p:nvSpPr>
          <p:cNvPr id="22" name="doc-85"/>
          <p:cNvSpPr txBox="1"/>
          <p:nvPr/>
        </p:nvSpPr>
        <p:spPr>
          <a:xfrm>
            <a:off x="8412480" y="4434840"/>
            <a:ext cx="1371600" cy="411480"/>
          </a:xfrm>
          <a:prstGeom prst="roundRect">
            <a:avLst>
              <a:gd name="adj" fmla="val 48889"/>
            </a:avLst>
          </a:prstGeom>
          <a:solidFill>
            <a:schemeClr val="accent6"/>
          </a:solidFill>
          <a:ln/>
        </p:spPr>
        <p:txBody>
          <a:bodyPr wrap="square" lIns="0" tIns="0" rIns="0" bIns="0" rtlCol="0" anchor="ctr"/>
          <a:lstStyle/>
          <a:p>
            <a:pPr algn="ctr" indent="0" marL="0">
              <a:buNone/>
            </a:pPr>
            <a:r>
              <a:rPr lang="en-US" sz="1100" b="1" dirty="0">
                <a:solidFill>
                  <a:schemeClr val="bg1"/>
                </a:solidFill>
              </a:rPr>
              <a:t>UNDER_REVIEW</a:t>
            </a:r>
            <a:endParaRPr lang="en-US" sz="1100" dirty="0"/>
          </a:p>
        </p:txBody>
      </p:sp>
      <p:sp>
        <p:nvSpPr>
          <p:cNvPr id="23" name="arrow-86"/>
          <p:cNvSpPr/>
          <p:nvPr/>
        </p:nvSpPr>
        <p:spPr>
          <a:xfrm>
            <a:off x="9784080" y="4636008"/>
            <a:ext cx="274320" cy="0"/>
          </a:xfrm>
          <a:prstGeom prst="line">
            <a:avLst/>
          </a:prstGeom>
          <a:noFill/>
          <a:ln w="22225">
            <a:solidFill>
              <a:schemeClr val="accent5"/>
            </a:solidFill>
            <a:prstDash val="solid"/>
            <a:tailEnd type="triangle"/>
          </a:ln>
        </p:spPr>
      </p:sp>
      <p:sp>
        <p:nvSpPr>
          <p:cNvPr id="24" name="doc-87"/>
          <p:cNvSpPr txBox="1"/>
          <p:nvPr/>
        </p:nvSpPr>
        <p:spPr>
          <a:xfrm>
            <a:off x="10058400" y="4434840"/>
            <a:ext cx="1371600" cy="411480"/>
          </a:xfrm>
          <a:prstGeom prst="roundRect">
            <a:avLst>
              <a:gd name="adj" fmla="val 48889"/>
            </a:avLst>
          </a:prstGeom>
          <a:solidFill>
            <a:schemeClr val="accent2"/>
          </a:solidFill>
          <a:ln/>
        </p:spPr>
        <p:txBody>
          <a:bodyPr wrap="square" lIns="0" tIns="0" rIns="0" bIns="0" rtlCol="0" anchor="ctr"/>
          <a:lstStyle/>
          <a:p>
            <a:pPr algn="ctr" indent="0" marL="0">
              <a:buNone/>
            </a:pPr>
            <a:r>
              <a:rPr lang="en-US" sz="1100" b="1" dirty="0">
                <a:solidFill>
                  <a:schemeClr val="bg1"/>
                </a:solidFill>
              </a:rPr>
              <a:t>VERIFIED</a:t>
            </a:r>
            <a:endParaRPr lang="en-US" sz="1100" dirty="0"/>
          </a:p>
        </p:txBody>
      </p:sp>
      <p:sp>
        <p:nvSpPr>
          <p:cNvPr id="25" name="Text 21"/>
          <p:cNvSpPr txBox="1"/>
          <p:nvPr/>
        </p:nvSpPr>
        <p:spPr>
          <a:xfrm>
            <a:off x="6766560" y="4983480"/>
            <a:ext cx="4846320" cy="777240"/>
          </a:xfrm>
          <a:prstGeom prst="rect">
            <a:avLst/>
          </a:prstGeom>
          <a:noFill/>
          <a:ln/>
        </p:spPr>
        <p:txBody>
          <a:bodyPr wrap="square" lIns="0" tIns="0" rIns="0" bIns="0" rtlCol="0" anchor="t"/>
          <a:lstStyle/>
          <a:p>
            <a:pPr indent="0" marL="0">
              <a:buNone/>
            </a:pPr>
            <a:r>
              <a:rPr lang="en-US" sz="1200" dirty="0">
                <a:solidFill>
                  <a:schemeClr val="tx1"/>
                </a:solidFill>
              </a:rPr>
              <a:t>Reject needs a written reason → student replaces the file → revision + 1. Missing mandatory items show as “Not submitted”; progress lists named blockers.</a:t>
            </a:r>
            <a:endParaRPr lang="en-US" sz="1200" dirty="0"/>
          </a:p>
        </p:txBody>
      </p:sp>
      <p:sp>
        <p:nvSpPr>
          <p:cNvPr id="26" name="tag-88"/>
          <p:cNvSpPr txBox="1"/>
          <p:nvPr/>
        </p:nvSpPr>
        <p:spPr>
          <a:xfrm>
            <a:off x="548640" y="493776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7" name="Text 23"/>
          <p:cNvSpPr txBox="1"/>
          <p:nvPr/>
        </p:nvSpPr>
        <p:spPr>
          <a:xfrm>
            <a:off x="2011680" y="4882896"/>
            <a:ext cx="4480560" cy="384048"/>
          </a:xfrm>
          <a:prstGeom prst="rect">
            <a:avLst/>
          </a:prstGeom>
          <a:noFill/>
          <a:ln/>
        </p:spPr>
        <p:txBody>
          <a:bodyPr wrap="square" lIns="0" tIns="0" rIns="0" bIns="0" rtlCol="0" anchor="ctr"/>
          <a:lstStyle/>
          <a:p>
            <a:pPr indent="0" marL="0">
              <a:buNone/>
            </a:pPr>
            <a:r>
              <a:rPr lang="en-US" sz="1200" dirty="0">
                <a:solidFill>
                  <a:schemeClr val="tx1"/>
                </a:solidFill>
              </a:rPr>
              <a:t>16 programme configurations: CSSI ×6 · Rural ×1 · Summer ×7 · Industrial Training ×2</a:t>
            </a:r>
            <a:endParaRPr lang="en-US" sz="1200" dirty="0"/>
          </a:p>
        </p:txBody>
      </p:sp>
      <p:sp>
        <p:nvSpPr>
          <p:cNvPr id="28" name="tag-89"/>
          <p:cNvSpPr txBox="1"/>
          <p:nvPr/>
        </p:nvSpPr>
        <p:spPr>
          <a:xfrm>
            <a:off x="548640" y="5486400"/>
            <a:ext cx="8686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PARTIAL</a:t>
            </a:r>
            <a:endParaRPr lang="en-US" sz="1000" dirty="0"/>
          </a:p>
        </p:txBody>
      </p:sp>
      <p:sp>
        <p:nvSpPr>
          <p:cNvPr id="29" name="Text 25"/>
          <p:cNvSpPr txBox="1"/>
          <p:nvPr/>
        </p:nvSpPr>
        <p:spPr>
          <a:xfrm>
            <a:off x="1554480" y="5431536"/>
            <a:ext cx="4937760" cy="384048"/>
          </a:xfrm>
          <a:prstGeom prst="rect">
            <a:avLst/>
          </a:prstGeom>
          <a:noFill/>
          <a:ln/>
        </p:spPr>
        <p:txBody>
          <a:bodyPr wrap="square" lIns="0" tIns="0" rIns="0" bIns="0" rtlCol="0" anchor="ctr"/>
          <a:lstStyle/>
          <a:p>
            <a:pPr indent="0" marL="0">
              <a:buNone/>
            </a:pPr>
            <a:r>
              <a:rPr lang="en-US" sz="1200" dirty="0">
                <a:solidFill>
                  <a:schemeClr val="accent3"/>
                </a:solidFill>
              </a:rPr>
              <a:t>Industry-mentor marks: no external portal yet; faculty enter them on the mentor's behalf</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roles, one application</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The server-side role → permission matrix (core/rbac.py); a user may hold several roles</a:t>
            </a:r>
            <a:endParaRPr lang="en-US" sz="1600" dirty="0"/>
          </a:p>
        </p:txBody>
      </p:sp>
      <p:graphicFrame>
        <p:nvGraphicFramePr>
          <p:cNvPr id="7" name="rbac-table-9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03120"/>
                <a:gridCol w="746760"/>
                <a:gridCol w="746760"/>
                <a:gridCol w="746760"/>
                <a:gridCol w="746760"/>
                <a:gridCol w="746760"/>
                <a:gridCol w="746760"/>
                <a:gridCol w="746760"/>
                <a:gridCol w="746760"/>
                <a:gridCol w="746760"/>
                <a:gridCol w="746760"/>
                <a:gridCol w="746760"/>
                <a:gridCol w="746760"/>
              </a:tblGrid>
              <a:tr h="502920">
                <a:tc>
                  <a:txBody>
                    <a:bodyPr/>
                    <a:lstStyle/>
                    <a:p>
                      <a:pPr algn="ctr" indent="0" marL="0">
                        <a:buNone/>
                      </a:pPr>
                      <a:r>
                        <a:rPr lang="en-US" sz="1050" b="1" dirty="0">
                          <a:solidFill>
                            <a:schemeClr val="bg1"/>
                          </a:solidFill>
                        </a:rPr>
                        <a:t>Role</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Academics</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Electives</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MOOC</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Minors</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Internship</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Clubs &amp; events</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Mentorship</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Announce</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People</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Reports</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Audit log</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050" b="1" dirty="0">
                          <a:solidFill>
                            <a:schemeClr val="bg1"/>
                          </a:solidFill>
                        </a:rPr>
                        <a:t>System</a:t>
                      </a:r>
                      <a:endParaRPr lang="en-US" sz="105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STUDENT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FACULTY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DEPARTMENT_ADMIN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INTERNSHIP_COORDINATOR</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CLUB_ADMIN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tx2"/>
                          </a:solidFill>
                        </a:rPr>
                        <a:t>Limited</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D7EE"/>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5"/>
                          </a:solidFill>
                        </a:rPr>
                        <a:t>—</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75488">
                <a:tc>
                  <a:txBody>
                    <a:bodyPr/>
                    <a:lstStyle/>
                    <a:p>
                      <a:pPr indent="0" marL="0">
                        <a:buNone/>
                      </a:pPr>
                      <a:r>
                        <a:rPr lang="en-US" sz="1050" b="1" dirty="0">
                          <a:solidFill>
                            <a:schemeClr val="tx2"/>
                          </a:solidFill>
                          <a:latin typeface="Courier New" pitchFamily="34" charset="0"/>
                          <a:ea typeface="Courier New" pitchFamily="34" charset="-122"/>
                          <a:cs typeface="Courier New" pitchFamily="34" charset="-120"/>
                        </a:rPr>
                        <a:t>SUPER_ADMIN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Full</a:t>
                      </a:r>
                      <a:endParaRPr lang="en-US" sz="1100" dirty="0"/>
                    </a:p>
                  </a:txBody>
                  <a:tcPr marL="12700" marR="127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bl>
          </a:graphicData>
        </a:graphic>
      </p:graphicFrame>
      <p:sp>
        <p:nvSpPr>
          <p:cNvPr id="6" name="Text 2"/>
          <p:cNvSpPr txBox="1"/>
          <p:nvPr/>
        </p:nvSpPr>
        <p:spPr>
          <a:xfrm>
            <a:off x="548640" y="5166360"/>
            <a:ext cx="11064240" cy="365760"/>
          </a:xfrm>
          <a:prstGeom prst="rect">
            <a:avLst/>
          </a:prstGeom>
          <a:noFill/>
          <a:ln/>
        </p:spPr>
        <p:txBody>
          <a:bodyPr wrap="square" lIns="0" tIns="0" rIns="0" bIns="0" rtlCol="0" anchor="ctr"/>
          <a:lstStyle/>
          <a:p>
            <a:pPr indent="0" marL="0">
              <a:buNone/>
            </a:pPr>
            <a:r>
              <a:rPr lang="en-US" sz="1300" b="1" dirty="0">
                <a:solidFill>
                  <a:schemeClr val="tx2"/>
                </a:solidFill>
              </a:rPr>
              <a:t>Full</a:t>
            </a:r>
            <a:pPr indent="0" marL="0">
              <a:buNone/>
            </a:pPr>
            <a:r>
              <a:rPr lang="en-US" sz="1300" dirty="0">
                <a:solidFill>
                  <a:schemeClr val="tx1"/>
                </a:solidFill>
              </a:rPr>
              <a:t> = manage / allocate / verify     </a:t>
            </a:r>
            <a:pPr indent="0" marL="0">
              <a:buNone/>
            </a:pPr>
            <a:r>
              <a:rPr lang="en-US" sz="1300" b="1" dirty="0">
                <a:solidFill>
                  <a:schemeClr val="tx2"/>
                </a:solidFill>
              </a:rPr>
              <a:t>Limited</a:t>
            </a:r>
            <a:pPr indent="0" marL="0">
              <a:buNone/>
            </a:pPr>
            <a:r>
              <a:rPr lang="en-US" sz="1300" dirty="0">
                <a:solidFill>
                  <a:schemeClr val="tx1"/>
                </a:solidFill>
              </a:rPr>
              <a:t> = read, apply, submit or mentor-level     </a:t>
            </a:r>
            <a:pPr indent="0" marL="0">
              <a:buNone/>
            </a:pPr>
            <a:r>
              <a:rPr lang="en-US" sz="1300" b="1" dirty="0">
                <a:solidFill>
                  <a:schemeClr val="tx2"/>
                </a:solidFill>
              </a:rPr>
              <a:t>Live matrix: </a:t>
            </a:r>
            <a:pPr indent="0" marL="0">
              <a:buNone/>
            </a:pPr>
            <a:r>
              <a:rPr lang="en-US" sz="1300" dirty="0">
                <a:solidFill>
                  <a:schemeClr val="tx1"/>
                </a:solidFill>
                <a:latin typeface="Courier New" pitchFamily="34" charset="0"/>
                <a:ea typeface="Courier New" pitchFamily="34" charset="-122"/>
                <a:cs typeface="Courier New" pitchFamily="34" charset="-120"/>
              </a:rPr>
              <a:t>GET /api/v1/admin/permissions</a:t>
            </a:r>
            <a:endParaRPr lang="en-US" sz="1300" dirty="0"/>
          </a:p>
        </p:txBody>
      </p:sp>
      <p:sp>
        <p:nvSpPr>
          <p:cNvPr id="7" name="Text 3"/>
          <p:cNvSpPr txBox="1"/>
          <p:nvPr/>
        </p:nvSpPr>
        <p:spPr>
          <a:xfrm>
            <a:off x="548640" y="5577840"/>
            <a:ext cx="11064240" cy="594360"/>
          </a:xfrm>
          <a:prstGeom prst="rect">
            <a:avLst/>
          </a:prstGeom>
          <a:noFill/>
          <a:ln/>
        </p:spPr>
        <p:txBody>
          <a:bodyPr wrap="square" lIns="0" tIns="0" rIns="0" bIns="0" rtlCol="0" anchor="ctr"/>
          <a:lstStyle/>
          <a:p>
            <a:pPr indent="0" marL="0">
              <a:buNone/>
            </a:pPr>
            <a:r>
              <a:rPr lang="en-US" sz="1300" i="1" dirty="0">
                <a:solidFill>
                  <a:schemeClr val="accent5"/>
                </a:solidFill>
              </a:rPr>
              <a:t>Hiding a button is never the only control — the frontend reads the same permission strings from /auth/me, while every protected route calls require_permission() on the server.</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Coordination is scoped: role × domain × department</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A coarse role says what kind of action; a coordinator grant says over which slice</a:t>
            </a:r>
            <a:endParaRPr lang="en-US" sz="1600" dirty="0"/>
          </a:p>
        </p:txBody>
      </p:sp>
      <p:sp>
        <p:nvSpPr>
          <p:cNvPr id="5" name="role-91"/>
          <p:cNvSpPr txBox="1"/>
          <p:nvPr/>
        </p:nvSpPr>
        <p:spPr>
          <a:xfrm>
            <a:off x="548640" y="1691640"/>
            <a:ext cx="2377440" cy="1188720"/>
          </a:xfrm>
          <a:prstGeom prst="roundRect">
            <a:avLst>
              <a:gd name="adj" fmla="val 6154"/>
            </a:avLst>
          </a:prstGeom>
          <a:solidFill>
            <a:schemeClr val="tx2"/>
          </a:solidFill>
          <a:ln/>
        </p:spPr>
        <p:txBody>
          <a:bodyPr wrap="square" lIns="50800" tIns="50800" rIns="50800" bIns="50800" rtlCol="0" anchor="ctr"/>
          <a:lstStyle/>
          <a:p>
            <a:pPr algn="ctr" indent="0" marL="0">
              <a:buNone/>
            </a:pPr>
            <a:r>
              <a:rPr lang="en-US" sz="1700" b="1" dirty="0">
                <a:solidFill>
                  <a:schemeClr val="bg1"/>
                </a:solidFill>
              </a:rPr>
              <a:t>Role</a:t>
            </a:r>
            <a:endParaRPr lang="en-US" sz="1400" dirty="0"/>
          </a:p>
          <a:p>
            <a:pPr algn="ctr" indent="0" marL="0">
              <a:buNone/>
            </a:pPr>
            <a:r>
              <a:rPr lang="en-US" sz="1200" dirty="0">
                <a:solidFill>
                  <a:schemeClr val="bg1"/>
                </a:solidFill>
              </a:rPr>
              <a:t>e.g. FACULTY → coarse permissions</a:t>
            </a:r>
            <a:endParaRPr lang="en-US" sz="1400" dirty="0"/>
          </a:p>
        </p:txBody>
      </p:sp>
      <p:sp>
        <p:nvSpPr>
          <p:cNvPr id="6" name="Text 3"/>
          <p:cNvSpPr txBox="1"/>
          <p:nvPr/>
        </p:nvSpPr>
        <p:spPr>
          <a:xfrm>
            <a:off x="2926080" y="2011680"/>
            <a:ext cx="457200" cy="548640"/>
          </a:xfrm>
          <a:prstGeom prst="rect">
            <a:avLst/>
          </a:prstGeom>
          <a:noFill/>
          <a:ln/>
        </p:spPr>
        <p:txBody>
          <a:bodyPr wrap="square" lIns="0" tIns="0" rIns="0" bIns="0" rtlCol="0" anchor="ctr"/>
          <a:lstStyle/>
          <a:p>
            <a:pPr algn="ctr" indent="0" marL="0">
              <a:buNone/>
            </a:pPr>
            <a:r>
              <a:rPr lang="en-US" sz="3000" b="1" dirty="0">
                <a:solidFill>
                  <a:schemeClr val="accent5"/>
                </a:solidFill>
              </a:rPr>
              <a:t>×</a:t>
            </a:r>
            <a:endParaRPr lang="en-US" sz="3000" dirty="0"/>
          </a:p>
        </p:txBody>
      </p:sp>
      <p:sp>
        <p:nvSpPr>
          <p:cNvPr id="7" name="assign-92"/>
          <p:cNvSpPr txBox="1"/>
          <p:nvPr/>
        </p:nvSpPr>
        <p:spPr>
          <a:xfrm>
            <a:off x="3383280" y="1691640"/>
            <a:ext cx="2743200" cy="1188720"/>
          </a:xfrm>
          <a:prstGeom prst="roundRect">
            <a:avLst>
              <a:gd name="adj" fmla="val 6154"/>
            </a:avLst>
          </a:prstGeom>
          <a:solidFill>
            <a:schemeClr val="accent1"/>
          </a:solidFill>
          <a:ln/>
        </p:spPr>
        <p:txBody>
          <a:bodyPr wrap="square" lIns="50800" tIns="50800" rIns="50800" bIns="50800" rtlCol="0" anchor="ctr"/>
          <a:lstStyle/>
          <a:p>
            <a:pPr algn="ctr" indent="0" marL="0">
              <a:buNone/>
            </a:pPr>
            <a:r>
              <a:rPr lang="en-US" sz="1700" b="1" dirty="0">
                <a:solidFill>
                  <a:schemeClr val="bg1"/>
                </a:solidFill>
              </a:rPr>
              <a:t>Assignment</a:t>
            </a:r>
            <a:endParaRPr lang="en-US" sz="1400" dirty="0"/>
          </a:p>
          <a:p>
            <a:pPr algn="ctr" indent="0" marL="0">
              <a:buNone/>
            </a:pPr>
            <a:r>
              <a:rPr lang="en-US" sz="1200" dirty="0">
                <a:solidFill>
                  <a:schemeClr val="bg1"/>
                </a:solidFill>
              </a:rPr>
              <a:t>faculty × domain × department (NULL = all)</a:t>
            </a:r>
            <a:endParaRPr lang="en-US" sz="1400" dirty="0"/>
          </a:p>
        </p:txBody>
      </p:sp>
      <p:sp>
        <p:nvSpPr>
          <p:cNvPr id="8" name="arrow-93"/>
          <p:cNvSpPr/>
          <p:nvPr/>
        </p:nvSpPr>
        <p:spPr>
          <a:xfrm>
            <a:off x="4754880" y="2880360"/>
            <a:ext cx="0" cy="365760"/>
          </a:xfrm>
          <a:prstGeom prst="line">
            <a:avLst/>
          </a:prstGeom>
          <a:noFill/>
          <a:ln w="22225">
            <a:solidFill>
              <a:schemeClr val="accent5"/>
            </a:solidFill>
            <a:prstDash val="solid"/>
            <a:tailEnd type="triangle"/>
          </a:ln>
        </p:spPr>
      </p:sp>
      <p:sp>
        <p:nvSpPr>
          <p:cNvPr id="9" name="decide-94"/>
          <p:cNvSpPr txBox="1"/>
          <p:nvPr/>
        </p:nvSpPr>
        <p:spPr>
          <a:xfrm>
            <a:off x="1463040" y="3246120"/>
            <a:ext cx="4663440" cy="731520"/>
          </a:xfrm>
          <a:prstGeom prst="roundRect">
            <a:avLst>
              <a:gd name="adj" fmla="val 10000"/>
            </a:avLst>
          </a:prstGeom>
          <a:solidFill>
            <a:schemeClr val="bg2"/>
          </a:solidFill>
          <a:ln/>
        </p:spPr>
        <p:txBody>
          <a:bodyPr wrap="square" lIns="50800" tIns="50800" rIns="50800" bIns="5080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coordinates(user, domain, department)</a:t>
            </a:r>
            <a:endParaRPr lang="en-US" sz="1400" dirty="0"/>
          </a:p>
        </p:txBody>
      </p:sp>
      <p:sp>
        <p:nvSpPr>
          <p:cNvPr id="10" name="Text 7"/>
          <p:cNvSpPr txBox="1"/>
          <p:nvPr/>
        </p:nvSpPr>
        <p:spPr>
          <a:xfrm>
            <a:off x="548640" y="4206240"/>
            <a:ext cx="2743200" cy="320040"/>
          </a:xfrm>
          <a:prstGeom prst="rect">
            <a:avLst/>
          </a:prstGeom>
          <a:noFill/>
          <a:ln/>
        </p:spPr>
        <p:txBody>
          <a:bodyPr wrap="square" lIns="0" tIns="0" rIns="0" bIns="0" rtlCol="0" anchor="ctr"/>
          <a:lstStyle/>
          <a:p>
            <a:pPr indent="0" marL="0">
              <a:buNone/>
            </a:pPr>
            <a:r>
              <a:rPr lang="en-US" sz="1400" b="1" dirty="0">
                <a:solidFill>
                  <a:schemeClr val="tx2"/>
                </a:solidFill>
              </a:rPr>
              <a:t>Domains</a:t>
            </a:r>
            <a:endParaRPr lang="en-US" sz="1400" dirty="0"/>
          </a:p>
        </p:txBody>
      </p:sp>
      <p:sp>
        <p:nvSpPr>
          <p:cNvPr id="11" name="dom-95"/>
          <p:cNvSpPr txBox="1"/>
          <p:nvPr/>
        </p:nvSpPr>
        <p:spPr>
          <a:xfrm>
            <a:off x="548640" y="4572000"/>
            <a:ext cx="68580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CSSI</a:t>
            </a:r>
            <a:endParaRPr lang="en-US" sz="1100" dirty="0"/>
          </a:p>
        </p:txBody>
      </p:sp>
      <p:sp>
        <p:nvSpPr>
          <p:cNvPr id="12" name="dom-96"/>
          <p:cNvSpPr txBox="1"/>
          <p:nvPr/>
        </p:nvSpPr>
        <p:spPr>
          <a:xfrm>
            <a:off x="1325880" y="4572000"/>
            <a:ext cx="187452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SUMMER_INTERNSHIP</a:t>
            </a:r>
            <a:endParaRPr lang="en-US" sz="1100" dirty="0"/>
          </a:p>
        </p:txBody>
      </p:sp>
      <p:sp>
        <p:nvSpPr>
          <p:cNvPr id="13" name="dom-97"/>
          <p:cNvSpPr txBox="1"/>
          <p:nvPr/>
        </p:nvSpPr>
        <p:spPr>
          <a:xfrm>
            <a:off x="3291840" y="4572000"/>
            <a:ext cx="77724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MINOR</a:t>
            </a:r>
            <a:endParaRPr lang="en-US" sz="1100" dirty="0"/>
          </a:p>
        </p:txBody>
      </p:sp>
      <p:sp>
        <p:nvSpPr>
          <p:cNvPr id="14" name="dom-98"/>
          <p:cNvSpPr txBox="1"/>
          <p:nvPr/>
        </p:nvSpPr>
        <p:spPr>
          <a:xfrm>
            <a:off x="4160520" y="4572000"/>
            <a:ext cx="73152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MOOC</a:t>
            </a:r>
            <a:endParaRPr lang="en-US" sz="1100" dirty="0"/>
          </a:p>
        </p:txBody>
      </p:sp>
      <p:sp>
        <p:nvSpPr>
          <p:cNvPr id="15" name="dom-99"/>
          <p:cNvSpPr txBox="1"/>
          <p:nvPr/>
        </p:nvSpPr>
        <p:spPr>
          <a:xfrm>
            <a:off x="548640" y="5010912"/>
            <a:ext cx="150876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OPEN_ELECTIVE</a:t>
            </a:r>
            <a:endParaRPr lang="en-US" sz="1100" dirty="0"/>
          </a:p>
        </p:txBody>
      </p:sp>
      <p:sp>
        <p:nvSpPr>
          <p:cNvPr id="16" name="dom-100"/>
          <p:cNvSpPr txBox="1"/>
          <p:nvPr/>
        </p:nvSpPr>
        <p:spPr>
          <a:xfrm>
            <a:off x="2148840" y="5010912"/>
            <a:ext cx="150876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CORE_ELECTIVE</a:t>
            </a:r>
            <a:endParaRPr lang="en-US" sz="1100" dirty="0"/>
          </a:p>
        </p:txBody>
      </p:sp>
      <p:sp>
        <p:nvSpPr>
          <p:cNvPr id="17" name="dom-101"/>
          <p:cNvSpPr txBox="1"/>
          <p:nvPr/>
        </p:nvSpPr>
        <p:spPr>
          <a:xfrm>
            <a:off x="3749040" y="5010912"/>
            <a:ext cx="1234440" cy="347472"/>
          </a:xfrm>
          <a:prstGeom prst="roundRect">
            <a:avLst>
              <a:gd name="adj" fmla="val 21053"/>
            </a:avLst>
          </a:prstGeom>
          <a:solidFill>
            <a:schemeClr val="bg2"/>
          </a:solidFill>
          <a:ln/>
        </p:spPr>
        <p:txBody>
          <a:bodyPr wrap="square" lIns="0" tIns="0" rIns="0" bIns="0" rtlCol="0" anchor="ctr"/>
          <a:lstStyle/>
          <a:p>
            <a:pPr algn="ctr" indent="0" marL="0">
              <a:buNone/>
            </a:pPr>
            <a:r>
              <a:rPr lang="en-US" sz="1100" b="1" dirty="0">
                <a:solidFill>
                  <a:schemeClr val="tx2"/>
                </a:solidFill>
              </a:rPr>
              <a:t>MENTORSHIP</a:t>
            </a:r>
            <a:endParaRPr lang="en-US" sz="1100" dirty="0"/>
          </a:p>
        </p:txBody>
      </p:sp>
      <p:sp>
        <p:nvSpPr>
          <p:cNvPr id="18" name="Text 15"/>
          <p:cNvSpPr txBox="1"/>
          <p:nvPr/>
        </p:nvSpPr>
        <p:spPr>
          <a:xfrm>
            <a:off x="548640" y="5532120"/>
            <a:ext cx="5577840" cy="594360"/>
          </a:xfrm>
          <a:prstGeom prst="rect">
            <a:avLst/>
          </a:prstGeom>
          <a:noFill/>
          <a:ln/>
        </p:spPr>
        <p:txBody>
          <a:bodyPr wrap="square" lIns="0" tIns="0" rIns="0" bIns="0" rtlCol="0" anchor="ctr"/>
          <a:lstStyle/>
          <a:p>
            <a:pPr indent="0" marL="0">
              <a:buNone/>
            </a:pPr>
            <a:r>
              <a:rPr lang="en-US" sz="1300" dirty="0">
                <a:solidFill>
                  <a:schemeClr val="tx1"/>
                </a:solidFill>
              </a:rPr>
              <a:t>COORDINATOR and MENTOR are separate assigned roles — neither implies the other.</a:t>
            </a:r>
            <a:endParaRPr lang="en-US" sz="1300" dirty="0"/>
          </a:p>
        </p:txBody>
      </p:sp>
      <p:sp>
        <p:nvSpPr>
          <p:cNvPr id="19" name="Text 16"/>
          <p:cNvSpPr txBox="1"/>
          <p:nvPr/>
        </p:nvSpPr>
        <p:spPr>
          <a:xfrm>
            <a:off x="6583680" y="1691640"/>
            <a:ext cx="5029200" cy="320040"/>
          </a:xfrm>
          <a:prstGeom prst="rect">
            <a:avLst/>
          </a:prstGeom>
          <a:noFill/>
          <a:ln/>
        </p:spPr>
        <p:txBody>
          <a:bodyPr wrap="square" lIns="0" tIns="0" rIns="0" bIns="0" rtlCol="0" anchor="ctr"/>
          <a:lstStyle/>
          <a:p>
            <a:pPr indent="0" marL="0">
              <a:buNone/>
            </a:pPr>
            <a:r>
              <a:rPr lang="en-US" sz="1400" b="1" dirty="0">
                <a:solidFill>
                  <a:schemeClr val="tx2"/>
                </a:solidFill>
              </a:rPr>
              <a:t>Verified server responses (seeded accounts)</a:t>
            </a:r>
            <a:endParaRPr lang="en-US" sz="1400" dirty="0"/>
          </a:p>
        </p:txBody>
      </p:sp>
      <p:graphicFrame>
        <p:nvGraphicFramePr>
          <p:cNvPr id="8" name="scope-table-102"/>
          <p:cNvGraphicFramePr>
            <a:graphicFrameLocks noGrp="1"/>
          </p:cNvGraphicFramePr>
          <p:nvPr>
            <p:extLst>
              <p:ext uri="{D42A27DB-BD31-4B8C-83A1-F6EECF244321}">
                <p14:modId xmlns:p14="http://schemas.microsoft.com/office/powerpoint/2010/main" val="1579011935"/>
              </p:ext>
            </p:extLst>
          </p:nvPr>
        </p:nvGraphicFramePr>
        <p:xfrm>
          <a:off x="6583680" y="2103120"/>
          <a:ext cx="5029200" cy="914400"/>
        </p:xfrm>
        <a:graphic>
          <a:graphicData uri="http://schemas.openxmlformats.org/drawingml/2006/table">
            <a:tbl>
              <a:tblPr/>
              <a:tblGrid>
                <a:gridCol w="2286000"/>
                <a:gridCol w="914400"/>
                <a:gridCol w="914400"/>
                <a:gridCol w="914400"/>
              </a:tblGrid>
              <a:tr h="548640">
                <a:tc>
                  <a:txBody>
                    <a:bodyPr/>
                    <a:lstStyle/>
                    <a:p>
                      <a:pPr algn="ctr" indent="0" marL="0">
                        <a:buNone/>
                      </a:pPr>
                      <a:r>
                        <a:rPr lang="en-US" sz="1200" b="1" dirty="0">
                          <a:solidFill>
                            <a:schemeClr val="bg1"/>
                          </a:solidFill>
                        </a:rPr>
                        <a:t>Action</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Priya</a:t>
                      </a:r>
                      <a:endParaRPr lang="en-US" sz="1200" dirty="0"/>
                    </a:p>
                    <a:p>
                      <a:pPr algn="ctr" indent="0" marL="0">
                        <a:buNone/>
                      </a:pPr>
                      <a:r>
                        <a:rPr lang="en-US" sz="1200" b="1" dirty="0">
                          <a:solidFill>
                            <a:schemeClr val="bg1"/>
                          </a:solidFill>
                        </a:rPr>
                        <a:t>SI · ICT</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Sneha</a:t>
                      </a:r>
                      <a:endParaRPr lang="en-US" sz="1200" dirty="0"/>
                    </a:p>
                    <a:p>
                      <a:pPr algn="ctr" indent="0" marL="0">
                        <a:buNone/>
                      </a:pPr>
                      <a:r>
                        <a:rPr lang="en-US" sz="1200" b="1" dirty="0">
                          <a:solidFill>
                            <a:schemeClr val="bg1"/>
                          </a:solidFill>
                        </a:rPr>
                        <a:t>CSSI · ICT</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Kunal</a:t>
                      </a:r>
                      <a:endParaRPr lang="en-US" sz="1200" dirty="0"/>
                    </a:p>
                    <a:p>
                      <a:pPr algn="ctr" indent="0" marL="0">
                        <a:buNone/>
                      </a:pPr>
                      <a:r>
                        <a:rPr lang="en-US" sz="1200" b="1" dirty="0">
                          <a:solidFill>
                            <a:schemeClr val="bg1"/>
                          </a:solidFill>
                        </a:rPr>
                        <a:t>SI · CSE</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02920">
                <a:tc>
                  <a:txBody>
                    <a:bodyPr/>
                    <a:lstStyle/>
                    <a:p>
                      <a:pPr indent="0" marL="0">
                        <a:buNone/>
                      </a:pPr>
                      <a:r>
                        <a:rPr lang="en-US" sz="1200" dirty="0">
                          <a:solidFill>
                            <a:schemeClr val="tx1"/>
                          </a:solidFill>
                        </a:rPr>
                        <a:t>Configure Summer Internship (ICT)</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200</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r>
              <a:tr h="502920">
                <a:tc>
                  <a:txBody>
                    <a:bodyPr/>
                    <a:lstStyle/>
                    <a:p>
                      <a:pPr indent="0" marL="0">
                        <a:buNone/>
                      </a:pPr>
                      <a:r>
                        <a:rPr lang="en-US" sz="1200" dirty="0">
                          <a:solidFill>
                            <a:schemeClr val="tx1"/>
                          </a:solidFill>
                        </a:rPr>
                        <a:t>Configure CSSI (ICT)</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200</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r>
              <a:tr h="502920">
                <a:tc>
                  <a:txBody>
                    <a:bodyPr/>
                    <a:lstStyle/>
                    <a:p>
                      <a:pPr indent="0" marL="0">
                        <a:buNone/>
                      </a:pPr>
                      <a:r>
                        <a:rPr lang="en-US" sz="1200" dirty="0">
                          <a:solidFill>
                            <a:schemeClr val="tx1"/>
                          </a:solidFill>
                        </a:rPr>
                        <a:t>Create a CSSI group (ICT)</a:t>
                      </a:r>
                      <a:endParaRPr lang="en-US" sz="12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201</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300" b="1" dirty="0">
                          <a:solidFill>
                            <a:schemeClr val="bg1"/>
                          </a:solidFill>
                        </a:rPr>
                        <a:t>403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r>
            </a:tbl>
          </a:graphicData>
        </a:graphic>
      </p:graphicFrame>
      <p:sp>
        <p:nvSpPr>
          <p:cNvPr id="21" name="earned-103"/>
          <p:cNvSpPr txBox="1"/>
          <p:nvPr/>
        </p:nvSpPr>
        <p:spPr>
          <a:xfrm>
            <a:off x="6583680" y="4343400"/>
            <a:ext cx="5029200" cy="1783080"/>
          </a:xfrm>
          <a:prstGeom prst="roundRect">
            <a:avLst>
              <a:gd name="adj" fmla="val 4103"/>
            </a:avLst>
          </a:prstGeom>
          <a:solidFill>
            <a:schemeClr val="bg2"/>
          </a:solidFill>
          <a:ln/>
        </p:spPr>
        <p:txBody>
          <a:bodyPr wrap="square" lIns="127000" tIns="127000" rIns="127000" bIns="127000" rtlCol="0" anchor="t"/>
          <a:lstStyle/>
          <a:p>
            <a:pPr algn="l" indent="0" marL="0">
              <a:buNone/>
            </a:pPr>
            <a:r>
              <a:rPr lang="en-US" sz="1500" b="1" dirty="0">
                <a:solidFill>
                  <a:schemeClr val="tx2"/>
                </a:solidFill>
              </a:rPr>
              <a:t>Mentor lists are earned, not granted</a:t>
            </a:r>
            <a:endParaRPr lang="en-US" sz="1400" dirty="0"/>
          </a:p>
          <a:p>
            <a:pPr algn="l" indent="0" marL="0">
              <a:buNone/>
            </a:pPr>
            <a:r>
              <a:rPr lang="en-US" sz="1250" dirty="0">
                <a:solidFill>
                  <a:schemeClr val="tx1"/>
                </a:solidFill>
              </a:rPr>
              <a:t>CSSI Students / SI Students screens appear only when /auth/me reports the faculty actually mentors on that programme (mentors_programs). Being a coordinator does not create a mentee list.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Workflow by role: an internship from setup to evaluation</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Each role acts only inside its own lane and scope; every hand-off triggers a notification</a:t>
            </a:r>
            <a:endParaRPr lang="en-US" sz="1600" dirty="0"/>
          </a:p>
        </p:txBody>
      </p:sp>
      <p:sp>
        <p:nvSpPr>
          <p:cNvPr id="5" name="lane-104"/>
          <p:cNvSpPr txBox="1"/>
          <p:nvPr/>
        </p:nvSpPr>
        <p:spPr>
          <a:xfrm>
            <a:off x="548640" y="1600200"/>
            <a:ext cx="11064240" cy="1042416"/>
          </a:xfrm>
          <a:prstGeom prst="roundRect">
            <a:avLst>
              <a:gd name="adj" fmla="val 3509"/>
            </a:avLst>
          </a:prstGeom>
          <a:solidFill>
            <a:schemeClr val="bg2"/>
          </a:solidFill>
          <a:ln w="6350">
            <a:solidFill>
              <a:srgbClr val="CBD5E1"/>
            </a:solidFill>
            <a:prstDash val="solid"/>
          </a:ln>
        </p:spPr>
        <p:txBody>
          <a:bodyPr wrap="square" lIns="50800" tIns="50800" rIns="50800" bIns="50800" rtlCol="0" anchor="ctr"/>
          <a:lstStyle/>
          <a:p>
            <a:pPr algn="ctr" indent="0" marL="0">
              <a:buNone/>
            </a:pPr>
            <a:endParaRPr lang="en-US" sz="1400" dirty="0"/>
          </a:p>
        </p:txBody>
      </p:sp>
      <p:sp>
        <p:nvSpPr>
          <p:cNvPr id="6" name="icondot-105"/>
          <p:cNvSpPr/>
          <p:nvPr/>
        </p:nvSpPr>
        <p:spPr>
          <a:xfrm>
            <a:off x="685800" y="1874520"/>
            <a:ext cx="475488" cy="475488"/>
          </a:xfrm>
          <a:prstGeom prst="ellipse">
            <a:avLst/>
          </a:prstGeom>
          <a:solidFill>
            <a:schemeClr val="tx2"/>
          </a:solidFill>
          <a:ln w="12700">
            <a:solidFill>
              <a:schemeClr val="tx2"/>
            </a:solidFill>
            <a:prstDash val="solid"/>
          </a:ln>
        </p:spPr>
      </p:sp>
      <p:pic>
        <p:nvPicPr>
          <p:cNvPr id="7" name="icon-106" descr="preencoded.png">    </p:cNvPr>
          <p:cNvPicPr>
            <a:picLocks noChangeAspect="1"/>
          </p:cNvPicPr>
          <p:nvPr/>
        </p:nvPicPr>
        <p:blipFill>
          <a:blip r:embed="rId1"/>
          <a:stretch>
            <a:fillRect/>
          </a:stretch>
        </p:blipFill>
        <p:spPr>
          <a:xfrm>
            <a:off x="809427" y="1998147"/>
            <a:ext cx="228234" cy="228234"/>
          </a:xfrm>
          <a:prstGeom prst="rect">
            <a:avLst/>
          </a:prstGeom>
        </p:spPr>
      </p:pic>
      <p:sp>
        <p:nvSpPr>
          <p:cNvPr id="8" name="Text 4"/>
          <p:cNvSpPr txBox="1"/>
          <p:nvPr/>
        </p:nvSpPr>
        <p:spPr>
          <a:xfrm>
            <a:off x="1234440" y="1600200"/>
            <a:ext cx="1325880" cy="1042416"/>
          </a:xfrm>
          <a:prstGeom prst="rect">
            <a:avLst/>
          </a:prstGeom>
          <a:noFill/>
          <a:ln/>
        </p:spPr>
        <p:txBody>
          <a:bodyPr wrap="square" lIns="0" tIns="0" rIns="0" bIns="0" rtlCol="0" anchor="ctr"/>
          <a:lstStyle/>
          <a:p>
            <a:pPr indent="0" marL="0">
              <a:buNone/>
            </a:pPr>
            <a:r>
              <a:rPr lang="en-US" sz="1250" b="1" dirty="0">
                <a:solidFill>
                  <a:schemeClr val="tx2"/>
                </a:solidFill>
              </a:rPr>
              <a:t>Super / Dept admin</a:t>
            </a:r>
            <a:endParaRPr lang="en-US" sz="1250" dirty="0"/>
          </a:p>
        </p:txBody>
      </p:sp>
      <p:sp>
        <p:nvSpPr>
          <p:cNvPr id="9" name="lane-107"/>
          <p:cNvSpPr txBox="1"/>
          <p:nvPr/>
        </p:nvSpPr>
        <p:spPr>
          <a:xfrm>
            <a:off x="548640" y="2715768"/>
            <a:ext cx="11064240" cy="1042416"/>
          </a:xfrm>
          <a:prstGeom prst="roundRect">
            <a:avLst>
              <a:gd name="adj" fmla="val 3509"/>
            </a:avLst>
          </a:prstGeom>
          <a:solidFill>
            <a:schemeClr val="bg1"/>
          </a:solidFill>
          <a:ln w="6350">
            <a:solidFill>
              <a:srgbClr val="CBD5E1"/>
            </a:solidFill>
            <a:prstDash val="solid"/>
          </a:ln>
        </p:spPr>
        <p:txBody>
          <a:bodyPr wrap="square" lIns="50800" tIns="50800" rIns="50800" bIns="50800" rtlCol="0" anchor="ctr"/>
          <a:lstStyle/>
          <a:p>
            <a:pPr algn="ctr" indent="0" marL="0">
              <a:buNone/>
            </a:pPr>
            <a:endParaRPr lang="en-US" sz="1400" dirty="0"/>
          </a:p>
        </p:txBody>
      </p:sp>
      <p:sp>
        <p:nvSpPr>
          <p:cNvPr id="10" name="icondot-108"/>
          <p:cNvSpPr/>
          <p:nvPr/>
        </p:nvSpPr>
        <p:spPr>
          <a:xfrm>
            <a:off x="685800" y="2990088"/>
            <a:ext cx="475488" cy="475488"/>
          </a:xfrm>
          <a:prstGeom prst="ellipse">
            <a:avLst/>
          </a:prstGeom>
          <a:solidFill>
            <a:schemeClr val="tx2"/>
          </a:solidFill>
          <a:ln w="12700">
            <a:solidFill>
              <a:schemeClr val="tx2"/>
            </a:solidFill>
            <a:prstDash val="solid"/>
          </a:ln>
        </p:spPr>
      </p:sp>
      <p:pic>
        <p:nvPicPr>
          <p:cNvPr id="11" name="icon-109" descr="preencoded.png">    </p:cNvPr>
          <p:cNvPicPr>
            <a:picLocks noChangeAspect="1"/>
          </p:cNvPicPr>
          <p:nvPr/>
        </p:nvPicPr>
        <p:blipFill>
          <a:blip r:embed="rId2"/>
          <a:stretch>
            <a:fillRect/>
          </a:stretch>
        </p:blipFill>
        <p:spPr>
          <a:xfrm>
            <a:off x="809427" y="3113715"/>
            <a:ext cx="228234" cy="228234"/>
          </a:xfrm>
          <a:prstGeom prst="rect">
            <a:avLst/>
          </a:prstGeom>
        </p:spPr>
      </p:pic>
      <p:sp>
        <p:nvSpPr>
          <p:cNvPr id="12" name="Text 7"/>
          <p:cNvSpPr txBox="1"/>
          <p:nvPr/>
        </p:nvSpPr>
        <p:spPr>
          <a:xfrm>
            <a:off x="1234440" y="2715768"/>
            <a:ext cx="1325880" cy="1042416"/>
          </a:xfrm>
          <a:prstGeom prst="rect">
            <a:avLst/>
          </a:prstGeom>
          <a:noFill/>
          <a:ln/>
        </p:spPr>
        <p:txBody>
          <a:bodyPr wrap="square" lIns="0" tIns="0" rIns="0" bIns="0" rtlCol="0" anchor="ctr"/>
          <a:lstStyle/>
          <a:p>
            <a:pPr indent="0" marL="0">
              <a:buNone/>
            </a:pPr>
            <a:r>
              <a:rPr lang="en-US" sz="1250" b="1" dirty="0">
                <a:solidFill>
                  <a:schemeClr val="tx2"/>
                </a:solidFill>
              </a:rPr>
              <a:t>Coordinator (scoped)</a:t>
            </a:r>
            <a:endParaRPr lang="en-US" sz="1250" dirty="0"/>
          </a:p>
        </p:txBody>
      </p:sp>
      <p:sp>
        <p:nvSpPr>
          <p:cNvPr id="13" name="lane-110"/>
          <p:cNvSpPr txBox="1"/>
          <p:nvPr/>
        </p:nvSpPr>
        <p:spPr>
          <a:xfrm>
            <a:off x="548640" y="3831336"/>
            <a:ext cx="11064240" cy="1042416"/>
          </a:xfrm>
          <a:prstGeom prst="roundRect">
            <a:avLst>
              <a:gd name="adj" fmla="val 3509"/>
            </a:avLst>
          </a:prstGeom>
          <a:solidFill>
            <a:schemeClr val="bg2"/>
          </a:solidFill>
          <a:ln w="6350">
            <a:solidFill>
              <a:srgbClr val="CBD5E1"/>
            </a:solidFill>
            <a:prstDash val="solid"/>
          </a:ln>
        </p:spPr>
        <p:txBody>
          <a:bodyPr wrap="square" lIns="50800" tIns="50800" rIns="50800" bIns="50800" rtlCol="0" anchor="ctr"/>
          <a:lstStyle/>
          <a:p>
            <a:pPr algn="ctr" indent="0" marL="0">
              <a:buNone/>
            </a:pPr>
            <a:endParaRPr lang="en-US" sz="1400" dirty="0"/>
          </a:p>
        </p:txBody>
      </p:sp>
      <p:sp>
        <p:nvSpPr>
          <p:cNvPr id="14" name="icondot-111"/>
          <p:cNvSpPr/>
          <p:nvPr/>
        </p:nvSpPr>
        <p:spPr>
          <a:xfrm>
            <a:off x="685800" y="4105656"/>
            <a:ext cx="475488" cy="475488"/>
          </a:xfrm>
          <a:prstGeom prst="ellipse">
            <a:avLst/>
          </a:prstGeom>
          <a:solidFill>
            <a:schemeClr val="tx2"/>
          </a:solidFill>
          <a:ln w="12700">
            <a:solidFill>
              <a:schemeClr val="tx2"/>
            </a:solidFill>
            <a:prstDash val="solid"/>
          </a:ln>
        </p:spPr>
      </p:sp>
      <p:pic>
        <p:nvPicPr>
          <p:cNvPr id="15" name="icon-112" descr="preencoded.png">    </p:cNvPr>
          <p:cNvPicPr>
            <a:picLocks noChangeAspect="1"/>
          </p:cNvPicPr>
          <p:nvPr/>
        </p:nvPicPr>
        <p:blipFill>
          <a:blip r:embed="rId3"/>
          <a:stretch>
            <a:fillRect/>
          </a:stretch>
        </p:blipFill>
        <p:spPr>
          <a:xfrm>
            <a:off x="809427" y="4229283"/>
            <a:ext cx="228234" cy="228234"/>
          </a:xfrm>
          <a:prstGeom prst="rect">
            <a:avLst/>
          </a:prstGeom>
        </p:spPr>
      </p:pic>
      <p:sp>
        <p:nvSpPr>
          <p:cNvPr id="16" name="Text 10"/>
          <p:cNvSpPr txBox="1"/>
          <p:nvPr/>
        </p:nvSpPr>
        <p:spPr>
          <a:xfrm>
            <a:off x="1234440" y="3831336"/>
            <a:ext cx="1325880" cy="1042416"/>
          </a:xfrm>
          <a:prstGeom prst="rect">
            <a:avLst/>
          </a:prstGeom>
          <a:noFill/>
          <a:ln/>
        </p:spPr>
        <p:txBody>
          <a:bodyPr wrap="square" lIns="0" tIns="0" rIns="0" bIns="0" rtlCol="0" anchor="ctr"/>
          <a:lstStyle/>
          <a:p>
            <a:pPr indent="0" marL="0">
              <a:buNone/>
            </a:pPr>
            <a:r>
              <a:rPr lang="en-US" sz="1250" b="1" dirty="0">
                <a:solidFill>
                  <a:schemeClr val="tx2"/>
                </a:solidFill>
              </a:rPr>
              <a:t>Student</a:t>
            </a:r>
            <a:endParaRPr lang="en-US" sz="1250" dirty="0"/>
          </a:p>
        </p:txBody>
      </p:sp>
      <p:sp>
        <p:nvSpPr>
          <p:cNvPr id="17" name="lane-113"/>
          <p:cNvSpPr txBox="1"/>
          <p:nvPr/>
        </p:nvSpPr>
        <p:spPr>
          <a:xfrm>
            <a:off x="548640" y="4946904"/>
            <a:ext cx="11064240" cy="1042416"/>
          </a:xfrm>
          <a:prstGeom prst="roundRect">
            <a:avLst>
              <a:gd name="adj" fmla="val 3509"/>
            </a:avLst>
          </a:prstGeom>
          <a:solidFill>
            <a:schemeClr val="bg1"/>
          </a:solidFill>
          <a:ln w="6350">
            <a:solidFill>
              <a:srgbClr val="CBD5E1"/>
            </a:solidFill>
            <a:prstDash val="solid"/>
          </a:ln>
        </p:spPr>
        <p:txBody>
          <a:bodyPr wrap="square" lIns="50800" tIns="50800" rIns="50800" bIns="50800" rtlCol="0" anchor="ctr"/>
          <a:lstStyle/>
          <a:p>
            <a:pPr algn="ctr" indent="0" marL="0">
              <a:buNone/>
            </a:pPr>
            <a:endParaRPr lang="en-US" sz="1400" dirty="0"/>
          </a:p>
        </p:txBody>
      </p:sp>
      <p:sp>
        <p:nvSpPr>
          <p:cNvPr id="18" name="icondot-114"/>
          <p:cNvSpPr/>
          <p:nvPr/>
        </p:nvSpPr>
        <p:spPr>
          <a:xfrm>
            <a:off x="685800" y="5221224"/>
            <a:ext cx="475488" cy="475488"/>
          </a:xfrm>
          <a:prstGeom prst="ellipse">
            <a:avLst/>
          </a:prstGeom>
          <a:solidFill>
            <a:schemeClr val="tx2"/>
          </a:solidFill>
          <a:ln w="12700">
            <a:solidFill>
              <a:schemeClr val="tx2"/>
            </a:solidFill>
            <a:prstDash val="solid"/>
          </a:ln>
        </p:spPr>
      </p:sp>
      <p:pic>
        <p:nvPicPr>
          <p:cNvPr id="19" name="icon-115" descr="preencoded.png">    </p:cNvPr>
          <p:cNvPicPr>
            <a:picLocks noChangeAspect="1"/>
          </p:cNvPicPr>
          <p:nvPr/>
        </p:nvPicPr>
        <p:blipFill>
          <a:blip r:embed="rId4"/>
          <a:stretch>
            <a:fillRect/>
          </a:stretch>
        </p:blipFill>
        <p:spPr>
          <a:xfrm>
            <a:off x="809427" y="5344851"/>
            <a:ext cx="228234" cy="228234"/>
          </a:xfrm>
          <a:prstGeom prst="rect">
            <a:avLst/>
          </a:prstGeom>
        </p:spPr>
      </p:pic>
      <p:sp>
        <p:nvSpPr>
          <p:cNvPr id="20" name="Text 13"/>
          <p:cNvSpPr txBox="1"/>
          <p:nvPr/>
        </p:nvSpPr>
        <p:spPr>
          <a:xfrm>
            <a:off x="1234440" y="4946904"/>
            <a:ext cx="1325880" cy="1042416"/>
          </a:xfrm>
          <a:prstGeom prst="rect">
            <a:avLst/>
          </a:prstGeom>
          <a:noFill/>
          <a:ln/>
        </p:spPr>
        <p:txBody>
          <a:bodyPr wrap="square" lIns="0" tIns="0" rIns="0" bIns="0" rtlCol="0" anchor="ctr"/>
          <a:lstStyle/>
          <a:p>
            <a:pPr indent="0" marL="0">
              <a:buNone/>
            </a:pPr>
            <a:r>
              <a:rPr lang="en-US" sz="1250" b="1" dirty="0">
                <a:solidFill>
                  <a:schemeClr val="tx2"/>
                </a:solidFill>
              </a:rPr>
              <a:t>Faculty mentor</a:t>
            </a:r>
            <a:endParaRPr lang="en-US" sz="1250" dirty="0"/>
          </a:p>
        </p:txBody>
      </p:sp>
      <p:sp>
        <p:nvSpPr>
          <p:cNvPr id="21" name="swim-116"/>
          <p:cNvSpPr txBox="1"/>
          <p:nvPr/>
        </p:nvSpPr>
        <p:spPr>
          <a:xfrm>
            <a:off x="2697480" y="1801368"/>
            <a:ext cx="1417320" cy="640080"/>
          </a:xfrm>
          <a:prstGeom prst="roundRect">
            <a:avLst>
              <a:gd name="adj" fmla="val 11429"/>
            </a:avLst>
          </a:prstGeom>
          <a:solidFill>
            <a:schemeClr val="tx2"/>
          </a:solidFill>
          <a:ln/>
        </p:spPr>
        <p:txBody>
          <a:bodyPr wrap="square" lIns="50800" tIns="50800" rIns="50800" bIns="50800" rtlCol="0" anchor="ctr"/>
          <a:lstStyle/>
          <a:p>
            <a:pPr algn="ctr" indent="0" marL="0">
              <a:buNone/>
            </a:pPr>
            <a:r>
              <a:rPr lang="en-US" sz="1150" b="1" dirty="0">
                <a:solidFill>
                  <a:schemeClr val="bg1"/>
                </a:solidFill>
              </a:rPr>
              <a:t>Grant coordinator</a:t>
            </a:r>
            <a:endParaRPr lang="en-US" sz="1150" dirty="0"/>
          </a:p>
          <a:p>
            <a:pPr algn="ctr" indent="0" marL="0">
              <a:buNone/>
            </a:pPr>
            <a:r>
              <a:rPr lang="en-US" sz="1150" b="1" dirty="0">
                <a:solidFill>
                  <a:schemeClr val="bg1"/>
                </a:solidFill>
              </a:rPr>
              <a:t>(audit-logged)</a:t>
            </a:r>
            <a:endParaRPr lang="en-US" sz="1150" dirty="0"/>
          </a:p>
        </p:txBody>
      </p:sp>
      <p:sp>
        <p:nvSpPr>
          <p:cNvPr id="22" name="swim-117"/>
          <p:cNvSpPr txBox="1"/>
          <p:nvPr/>
        </p:nvSpPr>
        <p:spPr>
          <a:xfrm>
            <a:off x="4343400" y="2916936"/>
            <a:ext cx="1554480" cy="64008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1150" b="1" dirty="0">
                <a:solidFill>
                  <a:schemeClr val="bg1"/>
                </a:solidFill>
              </a:rPr>
              <a:t>Configure programme,</a:t>
            </a:r>
            <a:endParaRPr lang="en-US" sz="1150" dirty="0"/>
          </a:p>
          <a:p>
            <a:pPr algn="ctr" indent="0" marL="0">
              <a:buNone/>
            </a:pPr>
            <a:r>
              <a:rPr lang="en-US" sz="1150" b="1" dirty="0">
                <a:solidFill>
                  <a:schemeClr val="bg1"/>
                </a:solidFill>
              </a:rPr>
              <a:t>stages, rubric</a:t>
            </a:r>
            <a:endParaRPr lang="en-US" sz="1150" dirty="0"/>
          </a:p>
        </p:txBody>
      </p:sp>
      <p:sp>
        <p:nvSpPr>
          <p:cNvPr id="23" name="swim-118"/>
          <p:cNvSpPr txBox="1"/>
          <p:nvPr/>
        </p:nvSpPr>
        <p:spPr>
          <a:xfrm>
            <a:off x="6080760" y="2916936"/>
            <a:ext cx="1417320" cy="64008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1150" b="1" dirty="0">
                <a:solidFill>
                  <a:schemeClr val="bg1"/>
                </a:solidFill>
              </a:rPr>
              <a:t>Create groups,</a:t>
            </a:r>
            <a:endParaRPr lang="en-US" sz="1150" dirty="0"/>
          </a:p>
          <a:p>
            <a:pPr algn="ctr" indent="0" marL="0">
              <a:buNone/>
            </a:pPr>
            <a:r>
              <a:rPr lang="en-US" sz="1150" b="1" dirty="0">
                <a:solidFill>
                  <a:schemeClr val="bg1"/>
                </a:solidFill>
              </a:rPr>
              <a:t>assign mentors</a:t>
            </a:r>
            <a:endParaRPr lang="en-US" sz="1150" dirty="0"/>
          </a:p>
        </p:txBody>
      </p:sp>
      <p:sp>
        <p:nvSpPr>
          <p:cNvPr id="24" name="swim-119"/>
          <p:cNvSpPr txBox="1"/>
          <p:nvPr/>
        </p:nvSpPr>
        <p:spPr>
          <a:xfrm>
            <a:off x="6080760" y="4032504"/>
            <a:ext cx="1417320" cy="640080"/>
          </a:xfrm>
          <a:prstGeom prst="roundRect">
            <a:avLst>
              <a:gd name="adj" fmla="val 11429"/>
            </a:avLst>
          </a:prstGeom>
          <a:solidFill>
            <a:schemeClr val="accent6"/>
          </a:solidFill>
          <a:ln/>
        </p:spPr>
        <p:txBody>
          <a:bodyPr wrap="square" lIns="50800" tIns="50800" rIns="50800" bIns="50800" rtlCol="0" anchor="ctr"/>
          <a:lstStyle/>
          <a:p>
            <a:pPr algn="ctr" indent="0" marL="0">
              <a:buNone/>
            </a:pPr>
            <a:r>
              <a:rPr lang="en-US" sz="1150" b="1" dirty="0">
                <a:solidFill>
                  <a:schemeClr val="bg1"/>
                </a:solidFill>
              </a:rPr>
              <a:t>Enrol in</a:t>
            </a:r>
            <a:endParaRPr lang="en-US" sz="1150" dirty="0"/>
          </a:p>
          <a:p>
            <a:pPr algn="ctr" indent="0" marL="0">
              <a:buNone/>
            </a:pPr>
            <a:r>
              <a:rPr lang="en-US" sz="1150" b="1" dirty="0">
                <a:solidFill>
                  <a:schemeClr val="bg1"/>
                </a:solidFill>
              </a:rPr>
              <a:t>programme</a:t>
            </a:r>
            <a:endParaRPr lang="en-US" sz="1150" dirty="0"/>
          </a:p>
        </p:txBody>
      </p:sp>
      <p:sp>
        <p:nvSpPr>
          <p:cNvPr id="25" name="swim-120"/>
          <p:cNvSpPr txBox="1"/>
          <p:nvPr/>
        </p:nvSpPr>
        <p:spPr>
          <a:xfrm>
            <a:off x="7680960" y="4032504"/>
            <a:ext cx="1554480" cy="640080"/>
          </a:xfrm>
          <a:prstGeom prst="roundRect">
            <a:avLst>
              <a:gd name="adj" fmla="val 11429"/>
            </a:avLst>
          </a:prstGeom>
          <a:solidFill>
            <a:schemeClr val="accent6"/>
          </a:solidFill>
          <a:ln/>
        </p:spPr>
        <p:txBody>
          <a:bodyPr wrap="square" lIns="50800" tIns="50800" rIns="50800" bIns="50800" rtlCol="0" anchor="ctr"/>
          <a:lstStyle/>
          <a:p>
            <a:pPr algn="ctr" indent="0" marL="0">
              <a:buNone/>
            </a:pPr>
            <a:r>
              <a:rPr lang="en-US" sz="1150" b="1" dirty="0">
                <a:solidFill>
                  <a:schemeClr val="bg1"/>
                </a:solidFill>
              </a:rPr>
              <a:t>Submit stages,</a:t>
            </a:r>
            <a:endParaRPr lang="en-US" sz="1150" dirty="0"/>
          </a:p>
          <a:p>
            <a:pPr algn="ctr" indent="0" marL="0">
              <a:buNone/>
            </a:pPr>
            <a:r>
              <a:rPr lang="en-US" sz="1150" b="1" dirty="0">
                <a:solidFill>
                  <a:schemeClr val="bg1"/>
                </a:solidFill>
              </a:rPr>
              <a:t>docs, weekly reports</a:t>
            </a:r>
            <a:endParaRPr lang="en-US" sz="1150" dirty="0"/>
          </a:p>
        </p:txBody>
      </p:sp>
      <p:sp>
        <p:nvSpPr>
          <p:cNvPr id="26" name="swim-121"/>
          <p:cNvSpPr txBox="1"/>
          <p:nvPr/>
        </p:nvSpPr>
        <p:spPr>
          <a:xfrm>
            <a:off x="7680960" y="5148072"/>
            <a:ext cx="1554480" cy="640080"/>
          </a:xfrm>
          <a:prstGeom prst="roundRect">
            <a:avLst>
              <a:gd name="adj" fmla="val 11429"/>
            </a:avLst>
          </a:prstGeom>
          <a:solidFill>
            <a:schemeClr val="accent2"/>
          </a:solidFill>
          <a:ln/>
        </p:spPr>
        <p:txBody>
          <a:bodyPr wrap="square" lIns="50800" tIns="50800" rIns="50800" bIns="50800" rtlCol="0" anchor="ctr"/>
          <a:lstStyle/>
          <a:p>
            <a:pPr algn="ctr" indent="0" marL="0">
              <a:buNone/>
            </a:pPr>
            <a:r>
              <a:rPr lang="en-US" sz="1150" b="1" dirty="0">
                <a:solidFill>
                  <a:schemeClr val="bg1"/>
                </a:solidFill>
              </a:rPr>
              <a:t>Review: verify /</a:t>
            </a:r>
            <a:endParaRPr lang="en-US" sz="1150" dirty="0"/>
          </a:p>
          <a:p>
            <a:pPr algn="ctr" indent="0" marL="0">
              <a:buNone/>
            </a:pPr>
            <a:r>
              <a:rPr lang="en-US" sz="1150" b="1" dirty="0">
                <a:solidFill>
                  <a:schemeClr val="bg1"/>
                </a:solidFill>
              </a:rPr>
              <a:t>reject with reason</a:t>
            </a:r>
            <a:endParaRPr lang="en-US" sz="1150" dirty="0"/>
          </a:p>
        </p:txBody>
      </p:sp>
      <p:sp>
        <p:nvSpPr>
          <p:cNvPr id="27" name="swim-122"/>
          <p:cNvSpPr txBox="1"/>
          <p:nvPr/>
        </p:nvSpPr>
        <p:spPr>
          <a:xfrm>
            <a:off x="9464040" y="5148072"/>
            <a:ext cx="1371600" cy="640080"/>
          </a:xfrm>
          <a:prstGeom prst="roundRect">
            <a:avLst>
              <a:gd name="adj" fmla="val 11429"/>
            </a:avLst>
          </a:prstGeom>
          <a:solidFill>
            <a:schemeClr val="accent2"/>
          </a:solidFill>
          <a:ln/>
        </p:spPr>
        <p:txBody>
          <a:bodyPr wrap="square" lIns="50800" tIns="50800" rIns="50800" bIns="50800" rtlCol="0" anchor="ctr"/>
          <a:lstStyle/>
          <a:p>
            <a:pPr algn="ctr" indent="0" marL="0">
              <a:buNone/>
            </a:pPr>
            <a:r>
              <a:rPr lang="en-US" sz="1150" b="1" dirty="0">
                <a:solidFill>
                  <a:schemeClr val="bg1"/>
                </a:solidFill>
              </a:rPr>
              <a:t>Evaluate with</a:t>
            </a:r>
            <a:endParaRPr lang="en-US" sz="1150" dirty="0"/>
          </a:p>
          <a:p>
            <a:pPr algn="ctr" indent="0" marL="0">
              <a:buNone/>
            </a:pPr>
            <a:r>
              <a:rPr lang="en-US" sz="1150" b="1" dirty="0">
                <a:solidFill>
                  <a:schemeClr val="bg1"/>
                </a:solidFill>
              </a:rPr>
              <a:t>rubric</a:t>
            </a:r>
            <a:endParaRPr lang="en-US" sz="1150" dirty="0"/>
          </a:p>
        </p:txBody>
      </p:sp>
      <p:sp>
        <p:nvSpPr>
          <p:cNvPr id="28" name="swim-123"/>
          <p:cNvSpPr txBox="1"/>
          <p:nvPr/>
        </p:nvSpPr>
        <p:spPr>
          <a:xfrm>
            <a:off x="9464040" y="2916936"/>
            <a:ext cx="1371600" cy="64008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1150" b="1" dirty="0">
                <a:solidFill>
                  <a:schemeClr val="bg1"/>
                </a:solidFill>
              </a:rPr>
              <a:t>Oversight, mentor</a:t>
            </a:r>
            <a:endParaRPr lang="en-US" sz="1150" dirty="0"/>
          </a:p>
          <a:p>
            <a:pPr algn="ctr" indent="0" marL="0">
              <a:buNone/>
            </a:pPr>
            <a:r>
              <a:rPr lang="en-US" sz="1150" b="1" dirty="0">
                <a:solidFill>
                  <a:schemeClr val="bg1"/>
                </a:solidFill>
              </a:rPr>
              <a:t>override, results</a:t>
            </a:r>
            <a:endParaRPr lang="en-US" sz="1150" dirty="0"/>
          </a:p>
        </p:txBody>
      </p:sp>
      <p:sp>
        <p:nvSpPr>
          <p:cNvPr id="29" name="swim-124"/>
          <p:cNvSpPr txBox="1"/>
          <p:nvPr/>
        </p:nvSpPr>
        <p:spPr>
          <a:xfrm>
            <a:off x="9464040" y="4032504"/>
            <a:ext cx="1371600" cy="640080"/>
          </a:xfrm>
          <a:prstGeom prst="roundRect">
            <a:avLst>
              <a:gd name="adj" fmla="val 11429"/>
            </a:avLst>
          </a:prstGeom>
          <a:solidFill>
            <a:schemeClr val="accent6"/>
          </a:solidFill>
          <a:ln/>
        </p:spPr>
        <p:txBody>
          <a:bodyPr wrap="square" lIns="50800" tIns="50800" rIns="50800" bIns="50800" rtlCol="0" anchor="ctr"/>
          <a:lstStyle/>
          <a:p>
            <a:pPr algn="ctr" indent="0" marL="0">
              <a:buNone/>
            </a:pPr>
            <a:r>
              <a:rPr lang="en-US" sz="1150" b="1" dirty="0">
                <a:solidFill>
                  <a:schemeClr val="bg1"/>
                </a:solidFill>
              </a:rPr>
              <a:t>See progress +</a:t>
            </a:r>
            <a:endParaRPr lang="en-US" sz="1150" dirty="0"/>
          </a:p>
          <a:p>
            <a:pPr algn="ctr" indent="0" marL="0">
              <a:buNone/>
            </a:pPr>
            <a:r>
              <a:rPr lang="en-US" sz="1150" b="1" dirty="0">
                <a:solidFill>
                  <a:schemeClr val="bg1"/>
                </a:solidFill>
              </a:rPr>
              <a:t>notifications</a:t>
            </a:r>
            <a:endParaRPr lang="en-US" sz="1150" dirty="0"/>
          </a:p>
        </p:txBody>
      </p:sp>
      <p:sp>
        <p:nvSpPr>
          <p:cNvPr id="30" name="arrow-125"/>
          <p:cNvSpPr/>
          <p:nvPr/>
        </p:nvSpPr>
        <p:spPr>
          <a:xfrm>
            <a:off x="4114800" y="2441448"/>
            <a:ext cx="411480" cy="475488"/>
          </a:xfrm>
          <a:prstGeom prst="line">
            <a:avLst/>
          </a:prstGeom>
          <a:noFill/>
          <a:ln w="22225">
            <a:solidFill>
              <a:schemeClr val="accent5"/>
            </a:solidFill>
            <a:prstDash val="solid"/>
            <a:tailEnd type="triangle"/>
          </a:ln>
        </p:spPr>
      </p:sp>
      <p:sp>
        <p:nvSpPr>
          <p:cNvPr id="31" name="arrow-126"/>
          <p:cNvSpPr/>
          <p:nvPr/>
        </p:nvSpPr>
        <p:spPr>
          <a:xfrm>
            <a:off x="5897880" y="3236976"/>
            <a:ext cx="182880" cy="0"/>
          </a:xfrm>
          <a:prstGeom prst="line">
            <a:avLst/>
          </a:prstGeom>
          <a:noFill/>
          <a:ln w="22225">
            <a:solidFill>
              <a:schemeClr val="accent5"/>
            </a:solidFill>
            <a:prstDash val="solid"/>
            <a:tailEnd type="triangle"/>
          </a:ln>
        </p:spPr>
      </p:sp>
      <p:sp>
        <p:nvSpPr>
          <p:cNvPr id="32" name="arrow-127"/>
          <p:cNvSpPr/>
          <p:nvPr/>
        </p:nvSpPr>
        <p:spPr>
          <a:xfrm>
            <a:off x="6784848" y="3557016"/>
            <a:ext cx="0" cy="475488"/>
          </a:xfrm>
          <a:prstGeom prst="line">
            <a:avLst/>
          </a:prstGeom>
          <a:noFill/>
          <a:ln w="22225">
            <a:solidFill>
              <a:schemeClr val="accent5"/>
            </a:solidFill>
            <a:prstDash val="solid"/>
            <a:tailEnd type="triangle"/>
          </a:ln>
        </p:spPr>
      </p:sp>
      <p:sp>
        <p:nvSpPr>
          <p:cNvPr id="33" name="arrow-128"/>
          <p:cNvSpPr/>
          <p:nvPr/>
        </p:nvSpPr>
        <p:spPr>
          <a:xfrm>
            <a:off x="7498080" y="4352544"/>
            <a:ext cx="182880" cy="0"/>
          </a:xfrm>
          <a:prstGeom prst="line">
            <a:avLst/>
          </a:prstGeom>
          <a:noFill/>
          <a:ln w="22225">
            <a:solidFill>
              <a:schemeClr val="accent5"/>
            </a:solidFill>
            <a:prstDash val="solid"/>
            <a:tailEnd type="triangle"/>
          </a:ln>
        </p:spPr>
      </p:sp>
      <p:sp>
        <p:nvSpPr>
          <p:cNvPr id="34" name="arrow-129"/>
          <p:cNvSpPr/>
          <p:nvPr/>
        </p:nvSpPr>
        <p:spPr>
          <a:xfrm>
            <a:off x="8458200" y="4672584"/>
            <a:ext cx="0" cy="475488"/>
          </a:xfrm>
          <a:prstGeom prst="line">
            <a:avLst/>
          </a:prstGeom>
          <a:noFill/>
          <a:ln w="22225">
            <a:solidFill>
              <a:schemeClr val="accent5"/>
            </a:solidFill>
            <a:prstDash val="solid"/>
            <a:tailEnd type="triangle"/>
          </a:ln>
        </p:spPr>
      </p:sp>
      <p:sp>
        <p:nvSpPr>
          <p:cNvPr id="35" name="arrow-130"/>
          <p:cNvSpPr/>
          <p:nvPr/>
        </p:nvSpPr>
        <p:spPr>
          <a:xfrm>
            <a:off x="9235440" y="5468112"/>
            <a:ext cx="228600" cy="0"/>
          </a:xfrm>
          <a:prstGeom prst="line">
            <a:avLst/>
          </a:prstGeom>
          <a:noFill/>
          <a:ln w="22225">
            <a:solidFill>
              <a:schemeClr val="accent5"/>
            </a:solidFill>
            <a:prstDash val="solid"/>
            <a:tailEnd type="triangle"/>
          </a:ln>
        </p:spPr>
      </p:sp>
      <p:sp>
        <p:nvSpPr>
          <p:cNvPr id="36" name="arrow-131"/>
          <p:cNvSpPr/>
          <p:nvPr/>
        </p:nvSpPr>
        <p:spPr>
          <a:xfrm flipV="1">
            <a:off x="10149840" y="4672584"/>
            <a:ext cx="0" cy="475488"/>
          </a:xfrm>
          <a:prstGeom prst="line">
            <a:avLst/>
          </a:prstGeom>
          <a:noFill/>
          <a:ln w="22225">
            <a:solidFill>
              <a:schemeClr val="accent5"/>
            </a:solidFill>
            <a:prstDash val="solid"/>
            <a:tailEnd type="triangle"/>
          </a:ln>
        </p:spPr>
      </p:sp>
      <p:sp>
        <p:nvSpPr>
          <p:cNvPr id="37" name="arrow-132"/>
          <p:cNvSpPr/>
          <p:nvPr/>
        </p:nvSpPr>
        <p:spPr>
          <a:xfrm flipV="1">
            <a:off x="10149840" y="3557016"/>
            <a:ext cx="0" cy="475488"/>
          </a:xfrm>
          <a:prstGeom prst="line">
            <a:avLst/>
          </a:prstGeom>
          <a:noFill/>
          <a:ln w="22225">
            <a:solidFill>
              <a:schemeClr val="accent5"/>
            </a:solidFill>
            <a:prstDash val="solid"/>
            <a:tailEnd type="triangle"/>
          </a:ln>
        </p:spPr>
      </p:sp>
      <p:sp>
        <p:nvSpPr>
          <p:cNvPr id="38" name="arrow-133"/>
          <p:cNvSpPr/>
          <p:nvPr/>
        </p:nvSpPr>
        <p:spPr>
          <a:xfrm flipV="1">
            <a:off x="8092440" y="4672584"/>
            <a:ext cx="0" cy="475488"/>
          </a:xfrm>
          <a:prstGeom prst="line">
            <a:avLst/>
          </a:prstGeom>
          <a:noFill/>
          <a:ln w="22225">
            <a:solidFill>
              <a:schemeClr val="accent4"/>
            </a:solidFill>
            <a:prstDash val="dash"/>
            <a:tailEnd type="triangle"/>
          </a:ln>
        </p:spPr>
      </p:sp>
      <p:sp>
        <p:nvSpPr>
          <p:cNvPr id="39" name="Text 32"/>
          <p:cNvSpPr txBox="1"/>
          <p:nvPr/>
        </p:nvSpPr>
        <p:spPr>
          <a:xfrm>
            <a:off x="6629400" y="4800600"/>
            <a:ext cx="1417320" cy="274320"/>
          </a:xfrm>
          <a:prstGeom prst="rect">
            <a:avLst/>
          </a:prstGeom>
          <a:noFill/>
          <a:ln/>
        </p:spPr>
        <p:txBody>
          <a:bodyPr wrap="square" lIns="0" tIns="0" rIns="0" bIns="0" rtlCol="0" anchor="ctr"/>
          <a:lstStyle/>
          <a:p>
            <a:pPr algn="r" indent="0" marL="0">
              <a:buNone/>
            </a:pPr>
            <a:r>
              <a:rPr lang="en-US" sz="1000" i="1" dirty="0">
                <a:solidFill>
                  <a:schemeClr val="accent4"/>
                </a:solidFill>
              </a:rPr>
              <a:t>rejected → resubmit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Authentication &amp; authorisation</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Stateless JWTs + bcrypt for identity; three server-side gates decide every request</a:t>
            </a:r>
            <a:endParaRPr lang="en-US" sz="1600" dirty="0"/>
          </a:p>
        </p:txBody>
      </p:sp>
      <p:sp>
        <p:nvSpPr>
          <p:cNvPr id="5" name="Text 2"/>
          <p:cNvSpPr txBox="1"/>
          <p:nvPr/>
        </p:nvSpPr>
        <p:spPr>
          <a:xfrm>
            <a:off x="548640" y="1645920"/>
            <a:ext cx="5394960" cy="347472"/>
          </a:xfrm>
          <a:prstGeom prst="rect">
            <a:avLst/>
          </a:prstGeom>
          <a:noFill/>
          <a:ln/>
        </p:spPr>
        <p:txBody>
          <a:bodyPr wrap="square" lIns="0" tIns="0" rIns="0" bIns="0" rtlCol="0" anchor="ctr"/>
          <a:lstStyle/>
          <a:p>
            <a:pPr indent="0" marL="0">
              <a:buNone/>
            </a:pPr>
            <a:r>
              <a:rPr lang="en-US" sz="1700" b="1" dirty="0">
                <a:solidFill>
                  <a:schemeClr val="tx2"/>
                </a:solidFill>
              </a:rPr>
              <a:t>Authentication flow</a:t>
            </a:r>
            <a:endParaRPr lang="en-US" sz="1700" dirty="0"/>
          </a:p>
        </p:txBody>
      </p:sp>
      <p:sp>
        <p:nvSpPr>
          <p:cNvPr id="6" name="num-134"/>
          <p:cNvSpPr txBox="1"/>
          <p:nvPr/>
        </p:nvSpPr>
        <p:spPr>
          <a:xfrm>
            <a:off x="548640" y="2176272"/>
            <a:ext cx="420624" cy="420624"/>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1143000" y="21031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POST /auth/login</a:t>
            </a:r>
            <a:endParaRPr lang="en-US" sz="1400" dirty="0"/>
          </a:p>
          <a:p>
            <a:pPr indent="0" marL="0">
              <a:buNone/>
            </a:pPr>
            <a:r>
              <a:rPr lang="en-US" sz="1200" dirty="0">
                <a:solidFill>
                  <a:schemeClr val="tx1"/>
                </a:solidFill>
              </a:rPr>
              <a:t>email looked up case-insensitively</a:t>
            </a:r>
            <a:endParaRPr lang="en-US" sz="1400" dirty="0"/>
          </a:p>
        </p:txBody>
      </p:sp>
      <p:sp>
        <p:nvSpPr>
          <p:cNvPr id="8" name="arrow-135"/>
          <p:cNvSpPr/>
          <p:nvPr/>
        </p:nvSpPr>
        <p:spPr>
          <a:xfrm>
            <a:off x="758952" y="2596896"/>
            <a:ext cx="0" cy="265176"/>
          </a:xfrm>
          <a:prstGeom prst="line">
            <a:avLst/>
          </a:prstGeom>
          <a:noFill/>
          <a:ln w="15875">
            <a:solidFill>
              <a:schemeClr val="accent5"/>
            </a:solidFill>
            <a:prstDash val="solid"/>
            <a:tailEnd type="triangle"/>
          </a:ln>
        </p:spPr>
      </p:sp>
      <p:sp>
        <p:nvSpPr>
          <p:cNvPr id="9" name="num-136"/>
          <p:cNvSpPr txBox="1"/>
          <p:nvPr/>
        </p:nvSpPr>
        <p:spPr>
          <a:xfrm>
            <a:off x="548640" y="2862072"/>
            <a:ext cx="420624" cy="420624"/>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7"/>
          <p:cNvSpPr txBox="1"/>
          <p:nvPr/>
        </p:nvSpPr>
        <p:spPr>
          <a:xfrm>
            <a:off x="1143000" y="27889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bcrypt.checkpw (cost 12)</a:t>
            </a:r>
            <a:endParaRPr lang="en-US" sz="1400" dirty="0"/>
          </a:p>
          <a:p>
            <a:pPr indent="0" marL="0">
              <a:buNone/>
            </a:pPr>
            <a:r>
              <a:rPr lang="en-US" sz="1200" dirty="0">
                <a:solidFill>
                  <a:schemeClr val="tx1"/>
                </a:solidFill>
              </a:rPr>
              <a:t>same error for unknown user or wrong password</a:t>
            </a:r>
            <a:endParaRPr lang="en-US" sz="1400" dirty="0"/>
          </a:p>
        </p:txBody>
      </p:sp>
      <p:sp>
        <p:nvSpPr>
          <p:cNvPr id="11" name="arrow-137"/>
          <p:cNvSpPr/>
          <p:nvPr/>
        </p:nvSpPr>
        <p:spPr>
          <a:xfrm>
            <a:off x="758952" y="3282696"/>
            <a:ext cx="0" cy="265176"/>
          </a:xfrm>
          <a:prstGeom prst="line">
            <a:avLst/>
          </a:prstGeom>
          <a:noFill/>
          <a:ln w="15875">
            <a:solidFill>
              <a:schemeClr val="accent5"/>
            </a:solidFill>
            <a:prstDash val="solid"/>
            <a:tailEnd type="triangle"/>
          </a:ln>
        </p:spPr>
      </p:sp>
      <p:sp>
        <p:nvSpPr>
          <p:cNvPr id="12" name="num-138"/>
          <p:cNvSpPr txBox="1"/>
          <p:nvPr/>
        </p:nvSpPr>
        <p:spPr>
          <a:xfrm>
            <a:off x="548640" y="3547872"/>
            <a:ext cx="420624" cy="42062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0"/>
          <p:cNvSpPr txBox="1"/>
          <p:nvPr/>
        </p:nvSpPr>
        <p:spPr>
          <a:xfrm>
            <a:off x="1143000" y="34747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Issue tokens</a:t>
            </a:r>
            <a:endParaRPr lang="en-US" sz="1400" dirty="0"/>
          </a:p>
          <a:p>
            <a:pPr indent="0" marL="0">
              <a:buNone/>
            </a:pPr>
            <a:r>
              <a:rPr lang="en-US" sz="1200" dirty="0">
                <a:solidFill>
                  <a:schemeClr val="tx1"/>
                </a:solidFill>
              </a:rPr>
              <a:t>access JWT 60 min · refresh JWT 14 days · HS256</a:t>
            </a:r>
            <a:endParaRPr lang="en-US" sz="1400" dirty="0"/>
          </a:p>
        </p:txBody>
      </p:sp>
      <p:sp>
        <p:nvSpPr>
          <p:cNvPr id="14" name="arrow-139"/>
          <p:cNvSpPr/>
          <p:nvPr/>
        </p:nvSpPr>
        <p:spPr>
          <a:xfrm>
            <a:off x="758952" y="3968496"/>
            <a:ext cx="0" cy="265176"/>
          </a:xfrm>
          <a:prstGeom prst="line">
            <a:avLst/>
          </a:prstGeom>
          <a:noFill/>
          <a:ln w="15875">
            <a:solidFill>
              <a:schemeClr val="accent5"/>
            </a:solidFill>
            <a:prstDash val="solid"/>
            <a:tailEnd type="triangle"/>
          </a:ln>
        </p:spPr>
      </p:sp>
      <p:sp>
        <p:nvSpPr>
          <p:cNvPr id="15" name="num-140"/>
          <p:cNvSpPr txBox="1"/>
          <p:nvPr/>
        </p:nvSpPr>
        <p:spPr>
          <a:xfrm>
            <a:off x="548640" y="4233672"/>
            <a:ext cx="420624" cy="420624"/>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 13"/>
          <p:cNvSpPr txBox="1"/>
          <p:nvPr/>
        </p:nvSpPr>
        <p:spPr>
          <a:xfrm>
            <a:off x="1143000" y="41605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Audit LOGIN</a:t>
            </a:r>
            <a:endParaRPr lang="en-US" sz="1400" dirty="0"/>
          </a:p>
          <a:p>
            <a:pPr indent="0" marL="0">
              <a:buNone/>
            </a:pPr>
            <a:r>
              <a:rPr lang="en-US" sz="1200" dirty="0">
                <a:solidFill>
                  <a:schemeClr val="tx1"/>
                </a:solidFill>
              </a:rPr>
              <a:t>IP address and user-agent recorded</a:t>
            </a:r>
            <a:endParaRPr lang="en-US" sz="1400" dirty="0"/>
          </a:p>
        </p:txBody>
      </p:sp>
      <p:sp>
        <p:nvSpPr>
          <p:cNvPr id="17" name="arrow-141"/>
          <p:cNvSpPr/>
          <p:nvPr/>
        </p:nvSpPr>
        <p:spPr>
          <a:xfrm>
            <a:off x="758952" y="4654296"/>
            <a:ext cx="0" cy="265176"/>
          </a:xfrm>
          <a:prstGeom prst="line">
            <a:avLst/>
          </a:prstGeom>
          <a:noFill/>
          <a:ln w="15875">
            <a:solidFill>
              <a:schemeClr val="accent5"/>
            </a:solidFill>
            <a:prstDash val="solid"/>
            <a:tailEnd type="triangle"/>
          </a:ln>
        </p:spPr>
      </p:sp>
      <p:sp>
        <p:nvSpPr>
          <p:cNvPr id="18" name="num-142"/>
          <p:cNvSpPr txBox="1"/>
          <p:nvPr/>
        </p:nvSpPr>
        <p:spPr>
          <a:xfrm>
            <a:off x="548640" y="4919472"/>
            <a:ext cx="420624" cy="42062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 16"/>
          <p:cNvSpPr txBox="1"/>
          <p:nvPr/>
        </p:nvSpPr>
        <p:spPr>
          <a:xfrm>
            <a:off x="1143000" y="48463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Bearer on every call</a:t>
            </a:r>
            <a:endParaRPr lang="en-US" sz="1400" dirty="0"/>
          </a:p>
          <a:p>
            <a:pPr indent="0" marL="0">
              <a:buNone/>
            </a:pPr>
            <a:r>
              <a:rPr lang="en-US" sz="1200" dirty="0">
                <a:solidFill>
                  <a:schemeClr val="tx1"/>
                </a:solidFill>
              </a:rPr>
              <a:t>get_current_user: type=access, user active</a:t>
            </a:r>
            <a:endParaRPr lang="en-US" sz="1400" dirty="0"/>
          </a:p>
        </p:txBody>
      </p:sp>
      <p:sp>
        <p:nvSpPr>
          <p:cNvPr id="20" name="arrow-143"/>
          <p:cNvSpPr/>
          <p:nvPr/>
        </p:nvSpPr>
        <p:spPr>
          <a:xfrm>
            <a:off x="758952" y="5340096"/>
            <a:ext cx="0" cy="265176"/>
          </a:xfrm>
          <a:prstGeom prst="line">
            <a:avLst/>
          </a:prstGeom>
          <a:noFill/>
          <a:ln w="15875">
            <a:solidFill>
              <a:schemeClr val="accent5"/>
            </a:solidFill>
            <a:prstDash val="solid"/>
            <a:tailEnd type="triangle"/>
          </a:ln>
        </p:spPr>
      </p:sp>
      <p:sp>
        <p:nvSpPr>
          <p:cNvPr id="21" name="num-144"/>
          <p:cNvSpPr txBox="1"/>
          <p:nvPr/>
        </p:nvSpPr>
        <p:spPr>
          <a:xfrm>
            <a:off x="548640" y="5605272"/>
            <a:ext cx="420624" cy="420624"/>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 19"/>
          <p:cNvSpPr txBox="1"/>
          <p:nvPr/>
        </p:nvSpPr>
        <p:spPr>
          <a:xfrm>
            <a:off x="1143000" y="5532120"/>
            <a:ext cx="4754880" cy="566928"/>
          </a:xfrm>
          <a:prstGeom prst="rect">
            <a:avLst/>
          </a:prstGeom>
          <a:noFill/>
          <a:ln/>
        </p:spPr>
        <p:txBody>
          <a:bodyPr wrap="square" lIns="0" tIns="0" rIns="0" bIns="0" rtlCol="0" anchor="ctr"/>
          <a:lstStyle/>
          <a:p>
            <a:pPr indent="0" marL="0">
              <a:buNone/>
            </a:pPr>
            <a:r>
              <a:rPr lang="en-US" sz="1400" b="1" dirty="0">
                <a:solidFill>
                  <a:schemeClr val="tx2"/>
                </a:solidFill>
              </a:rPr>
              <a:t>Silent refresh</a:t>
            </a:r>
            <a:endParaRPr lang="en-US" sz="1400" dirty="0"/>
          </a:p>
          <a:p>
            <a:pPr indent="0" marL="0">
              <a:buNone/>
            </a:pPr>
            <a:r>
              <a:rPr lang="en-US" sz="1200" dirty="0">
                <a:solidFill>
                  <a:schemeClr val="tx1"/>
                </a:solidFill>
              </a:rPr>
              <a:t>one retry on 401, otherwise signed out</a:t>
            </a:r>
            <a:endParaRPr lang="en-US" sz="1400" dirty="0"/>
          </a:p>
        </p:txBody>
      </p:sp>
      <p:sp>
        <p:nvSpPr>
          <p:cNvPr id="23" name="Text 20"/>
          <p:cNvSpPr txBox="1"/>
          <p:nvPr/>
        </p:nvSpPr>
        <p:spPr>
          <a:xfrm>
            <a:off x="6263640" y="1645920"/>
            <a:ext cx="5349240" cy="347472"/>
          </a:xfrm>
          <a:prstGeom prst="rect">
            <a:avLst/>
          </a:prstGeom>
          <a:noFill/>
          <a:ln/>
        </p:spPr>
        <p:txBody>
          <a:bodyPr wrap="square" lIns="0" tIns="0" rIns="0" bIns="0" rtlCol="0" anchor="ctr"/>
          <a:lstStyle/>
          <a:p>
            <a:pPr indent="0" marL="0">
              <a:buNone/>
            </a:pPr>
            <a:r>
              <a:rPr lang="en-US" sz="1700" b="1" dirty="0">
                <a:solidFill>
                  <a:schemeClr val="tx2"/>
                </a:solidFill>
              </a:rPr>
              <a:t>Authorisation: three gates</a:t>
            </a:r>
            <a:endParaRPr lang="en-US" sz="1700" dirty="0"/>
          </a:p>
        </p:txBody>
      </p:sp>
      <p:sp>
        <p:nvSpPr>
          <p:cNvPr id="24" name="gate-145"/>
          <p:cNvSpPr txBox="1"/>
          <p:nvPr/>
        </p:nvSpPr>
        <p:spPr>
          <a:xfrm>
            <a:off x="6263640" y="2103120"/>
            <a:ext cx="5349240" cy="868680"/>
          </a:xfrm>
          <a:prstGeom prst="roundRect">
            <a:avLst>
              <a:gd name="adj" fmla="val 8421"/>
            </a:avLst>
          </a:prstGeom>
          <a:solidFill>
            <a:schemeClr val="tx2"/>
          </a:solidFill>
          <a:ln/>
        </p:spPr>
        <p:txBody>
          <a:bodyPr wrap="square" lIns="50800" tIns="50800" rIns="50800" bIns="50800" rtlCol="0" anchor="ctr"/>
          <a:lstStyle/>
          <a:p>
            <a:pPr algn="ctr" indent="0" marL="0">
              <a:buNone/>
            </a:pPr>
            <a:endParaRPr lang="en-US" sz="1400" dirty="0"/>
          </a:p>
        </p:txBody>
      </p:sp>
      <p:sp>
        <p:nvSpPr>
          <p:cNvPr id="25" name="Text 22"/>
          <p:cNvSpPr txBox="1"/>
          <p:nvPr/>
        </p:nvSpPr>
        <p:spPr>
          <a:xfrm>
            <a:off x="6373368" y="2286000"/>
            <a:ext cx="502920" cy="50292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26" name="Text 23"/>
          <p:cNvSpPr txBox="1"/>
          <p:nvPr/>
        </p:nvSpPr>
        <p:spPr>
          <a:xfrm>
            <a:off x="6995160" y="2139696"/>
            <a:ext cx="3886200" cy="804672"/>
          </a:xfrm>
          <a:prstGeom prst="rect">
            <a:avLst/>
          </a:prstGeom>
          <a:noFill/>
          <a:ln/>
        </p:spPr>
        <p:txBody>
          <a:bodyPr wrap="square" lIns="0" tIns="0" rIns="0" bIns="0" rtlCol="0" anchor="ctr"/>
          <a:lstStyle/>
          <a:p>
            <a:pPr indent="0" marL="0">
              <a:buNone/>
            </a:pPr>
            <a:r>
              <a:rPr lang="en-US" sz="1500" b="1" dirty="0">
                <a:solidFill>
                  <a:schemeClr val="bg1"/>
                </a:solidFill>
              </a:rPr>
              <a:t>Authenticated</a:t>
            </a:r>
            <a:endParaRPr lang="en-US" sz="1500" dirty="0"/>
          </a:p>
          <a:p>
            <a:pPr indent="0" marL="0">
              <a:buNone/>
            </a:pPr>
            <a:r>
              <a:rPr lang="en-US" sz="1150" dirty="0">
                <a:solidFill>
                  <a:schemeClr val="bg1"/>
                </a:solidFill>
              </a:rPr>
              <a:t>Valid signature, not expired, type = access, user exists and active</a:t>
            </a:r>
            <a:endParaRPr lang="en-US" sz="1500" dirty="0"/>
          </a:p>
        </p:txBody>
      </p:sp>
      <p:sp>
        <p:nvSpPr>
          <p:cNvPr id="27" name="Text 24"/>
          <p:cNvSpPr txBox="1"/>
          <p:nvPr/>
        </p:nvSpPr>
        <p:spPr>
          <a:xfrm>
            <a:off x="10881360" y="2331720"/>
            <a:ext cx="640080" cy="411480"/>
          </a:xfrm>
          <a:prstGeom prst="rect">
            <a:avLst/>
          </a:prstGeom>
          <a:noFill/>
          <a:ln/>
        </p:spPr>
        <p:txBody>
          <a:bodyPr wrap="square" lIns="0" tIns="0" rIns="0" bIns="0" rtlCol="0" anchor="ctr"/>
          <a:lstStyle/>
          <a:p>
            <a:pPr algn="ctr" indent="0" marL="0">
              <a:buNone/>
            </a:pPr>
            <a:r>
              <a:rPr lang="en-US" sz="1400" b="1" dirty="0">
                <a:solidFill>
                  <a:schemeClr val="bg1"/>
                </a:solidFill>
              </a:rPr>
              <a:t>401</a:t>
            </a:r>
            <a:endParaRPr lang="en-US" sz="1400" dirty="0"/>
          </a:p>
        </p:txBody>
      </p:sp>
      <p:sp>
        <p:nvSpPr>
          <p:cNvPr id="28" name="gate-146"/>
          <p:cNvSpPr txBox="1"/>
          <p:nvPr/>
        </p:nvSpPr>
        <p:spPr>
          <a:xfrm>
            <a:off x="6446520" y="3127248"/>
            <a:ext cx="4983480" cy="868680"/>
          </a:xfrm>
          <a:prstGeom prst="roundRect">
            <a:avLst>
              <a:gd name="adj" fmla="val 8421"/>
            </a:avLst>
          </a:prstGeom>
          <a:solidFill>
            <a:schemeClr val="accent1"/>
          </a:solidFill>
          <a:ln/>
        </p:spPr>
        <p:txBody>
          <a:bodyPr wrap="square" lIns="50800" tIns="50800" rIns="50800" bIns="50800" rtlCol="0" anchor="ctr"/>
          <a:lstStyle/>
          <a:p>
            <a:pPr algn="ctr" indent="0" marL="0">
              <a:buNone/>
            </a:pPr>
            <a:endParaRPr lang="en-US" sz="1400" dirty="0"/>
          </a:p>
        </p:txBody>
      </p:sp>
      <p:sp>
        <p:nvSpPr>
          <p:cNvPr id="29" name="Text 26"/>
          <p:cNvSpPr txBox="1"/>
          <p:nvPr/>
        </p:nvSpPr>
        <p:spPr>
          <a:xfrm>
            <a:off x="6556248" y="3310128"/>
            <a:ext cx="502920" cy="50292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30" name="Text 27"/>
          <p:cNvSpPr txBox="1"/>
          <p:nvPr/>
        </p:nvSpPr>
        <p:spPr>
          <a:xfrm>
            <a:off x="7178040" y="3163824"/>
            <a:ext cx="3520440" cy="804672"/>
          </a:xfrm>
          <a:prstGeom prst="rect">
            <a:avLst/>
          </a:prstGeom>
          <a:noFill/>
          <a:ln/>
        </p:spPr>
        <p:txBody>
          <a:bodyPr wrap="square" lIns="0" tIns="0" rIns="0" bIns="0" rtlCol="0" anchor="ctr"/>
          <a:lstStyle/>
          <a:p>
            <a:pPr indent="0" marL="0">
              <a:buNone/>
            </a:pPr>
            <a:r>
              <a:rPr lang="en-US" sz="1500" b="1" dirty="0">
                <a:solidFill>
                  <a:schemeClr val="bg1"/>
                </a:solidFill>
              </a:rPr>
              <a:t>Permitted</a:t>
            </a:r>
            <a:endParaRPr lang="en-US" sz="1500" dirty="0"/>
          </a:p>
          <a:p>
            <a:pPr indent="0" marL="0">
              <a:buNone/>
            </a:pPr>
            <a:r>
              <a:rPr lang="en-US" sz="1150" dirty="0">
                <a:solidFill>
                  <a:schemeClr val="bg1"/>
                </a:solidFill>
              </a:rPr>
              <a:t>require_permission() against the role matrix, or a scoped coordinator grant</a:t>
            </a:r>
            <a:endParaRPr lang="en-US" sz="1500" dirty="0"/>
          </a:p>
        </p:txBody>
      </p:sp>
      <p:sp>
        <p:nvSpPr>
          <p:cNvPr id="31" name="Text 28"/>
          <p:cNvSpPr txBox="1"/>
          <p:nvPr/>
        </p:nvSpPr>
        <p:spPr>
          <a:xfrm>
            <a:off x="10698480" y="3355848"/>
            <a:ext cx="640080" cy="411480"/>
          </a:xfrm>
          <a:prstGeom prst="rect">
            <a:avLst/>
          </a:prstGeom>
          <a:noFill/>
          <a:ln/>
        </p:spPr>
        <p:txBody>
          <a:bodyPr wrap="square" lIns="0" tIns="0" rIns="0" bIns="0" rtlCol="0" anchor="ctr"/>
          <a:lstStyle/>
          <a:p>
            <a:pPr algn="ctr" indent="0" marL="0">
              <a:buNone/>
            </a:pPr>
            <a:r>
              <a:rPr lang="en-US" sz="1400" b="1" dirty="0">
                <a:solidFill>
                  <a:schemeClr val="bg1"/>
                </a:solidFill>
              </a:rPr>
              <a:t>403</a:t>
            </a:r>
            <a:endParaRPr lang="en-US" sz="1400" dirty="0"/>
          </a:p>
        </p:txBody>
      </p:sp>
      <p:sp>
        <p:nvSpPr>
          <p:cNvPr id="32" name="gate-147"/>
          <p:cNvSpPr txBox="1"/>
          <p:nvPr/>
        </p:nvSpPr>
        <p:spPr>
          <a:xfrm>
            <a:off x="6629400" y="4151376"/>
            <a:ext cx="4617720" cy="868680"/>
          </a:xfrm>
          <a:prstGeom prst="roundRect">
            <a:avLst>
              <a:gd name="adj" fmla="val 8421"/>
            </a:avLst>
          </a:prstGeom>
          <a:solidFill>
            <a:schemeClr val="accent6"/>
          </a:solidFill>
          <a:ln/>
        </p:spPr>
        <p:txBody>
          <a:bodyPr wrap="square" lIns="50800" tIns="50800" rIns="50800" bIns="50800" rtlCol="0" anchor="ctr"/>
          <a:lstStyle/>
          <a:p>
            <a:pPr algn="ctr" indent="0" marL="0">
              <a:buNone/>
            </a:pPr>
            <a:endParaRPr lang="en-US" sz="1400" dirty="0"/>
          </a:p>
        </p:txBody>
      </p:sp>
      <p:sp>
        <p:nvSpPr>
          <p:cNvPr id="33" name="Text 30"/>
          <p:cNvSpPr txBox="1"/>
          <p:nvPr/>
        </p:nvSpPr>
        <p:spPr>
          <a:xfrm>
            <a:off x="6739128" y="4334256"/>
            <a:ext cx="502920" cy="50292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34" name="Text 31"/>
          <p:cNvSpPr txBox="1"/>
          <p:nvPr/>
        </p:nvSpPr>
        <p:spPr>
          <a:xfrm>
            <a:off x="7360920" y="4187952"/>
            <a:ext cx="3154680" cy="804672"/>
          </a:xfrm>
          <a:prstGeom prst="rect">
            <a:avLst/>
          </a:prstGeom>
          <a:noFill/>
          <a:ln/>
        </p:spPr>
        <p:txBody>
          <a:bodyPr wrap="square" lIns="0" tIns="0" rIns="0" bIns="0" rtlCol="0" anchor="ctr"/>
          <a:lstStyle/>
          <a:p>
            <a:pPr indent="0" marL="0">
              <a:buNone/>
            </a:pPr>
            <a:r>
              <a:rPr lang="en-US" sz="1500" b="1" dirty="0">
                <a:solidFill>
                  <a:schemeClr val="bg1"/>
                </a:solidFill>
              </a:rPr>
              <a:t>In scope / owner</a:t>
            </a:r>
            <a:endParaRPr lang="en-US" sz="1500" dirty="0"/>
          </a:p>
          <a:p>
            <a:pPr indent="0" marL="0">
              <a:buNone/>
            </a:pPr>
            <a:r>
              <a:rPr lang="en-US" sz="1150" dirty="0">
                <a:solidFill>
                  <a:schemeClr val="bg1"/>
                </a:solidFill>
              </a:rPr>
              <a:t>Own record · mentor of this student · coordinates(domain, department)</a:t>
            </a:r>
            <a:endParaRPr lang="en-US" sz="1500" dirty="0"/>
          </a:p>
        </p:txBody>
      </p:sp>
      <p:sp>
        <p:nvSpPr>
          <p:cNvPr id="35" name="Text 32"/>
          <p:cNvSpPr txBox="1"/>
          <p:nvPr/>
        </p:nvSpPr>
        <p:spPr>
          <a:xfrm>
            <a:off x="10515600" y="4379976"/>
            <a:ext cx="640080" cy="411480"/>
          </a:xfrm>
          <a:prstGeom prst="rect">
            <a:avLst/>
          </a:prstGeom>
          <a:noFill/>
          <a:ln/>
        </p:spPr>
        <p:txBody>
          <a:bodyPr wrap="square" lIns="0" tIns="0" rIns="0" bIns="0" rtlCol="0" anchor="ctr"/>
          <a:lstStyle/>
          <a:p>
            <a:pPr algn="ctr" indent="0" marL="0">
              <a:buNone/>
            </a:pPr>
            <a:r>
              <a:rPr lang="en-US" sz="1400" b="1" dirty="0">
                <a:solidFill>
                  <a:schemeClr val="bg1"/>
                </a:solidFill>
              </a:rPr>
              <a:t>403</a:t>
            </a:r>
            <a:endParaRPr lang="en-US" sz="1400" dirty="0"/>
          </a:p>
        </p:txBody>
      </p:sp>
      <p:sp>
        <p:nvSpPr>
          <p:cNvPr id="36" name="pass-148"/>
          <p:cNvSpPr txBox="1"/>
          <p:nvPr/>
        </p:nvSpPr>
        <p:spPr>
          <a:xfrm>
            <a:off x="6812280" y="5166360"/>
            <a:ext cx="4251960" cy="548640"/>
          </a:xfrm>
          <a:prstGeom prst="roundRect">
            <a:avLst>
              <a:gd name="adj" fmla="val 13333"/>
            </a:avLst>
          </a:prstGeom>
          <a:solidFill>
            <a:schemeClr val="accent2"/>
          </a:solidFill>
          <a:ln/>
        </p:spPr>
        <p:txBody>
          <a:bodyPr wrap="square" lIns="50800" tIns="50800" rIns="50800" bIns="50800" rtlCol="0" anchor="ctr"/>
          <a:lstStyle/>
          <a:p>
            <a:pPr algn="ctr" indent="0" marL="0">
              <a:buNone/>
            </a:pPr>
            <a:r>
              <a:rPr lang="en-US" sz="1400" b="1" dirty="0">
                <a:solidFill>
                  <a:schemeClr val="bg1"/>
                </a:solidFill>
              </a:rPr>
              <a:t>Service / business logic runs</a:t>
            </a:r>
            <a:endParaRPr lang="en-US" sz="1400" dirty="0"/>
          </a:p>
        </p:txBody>
      </p:sp>
      <p:sp>
        <p:nvSpPr>
          <p:cNvPr id="37" name="arrow-149"/>
          <p:cNvSpPr/>
          <p:nvPr/>
        </p:nvSpPr>
        <p:spPr>
          <a:xfrm>
            <a:off x="8942832" y="4937760"/>
            <a:ext cx="0" cy="228600"/>
          </a:xfrm>
          <a:prstGeom prst="line">
            <a:avLst/>
          </a:prstGeom>
          <a:noFill/>
          <a:ln w="22225">
            <a:solidFill>
              <a:schemeClr val="accent5"/>
            </a:solidFill>
            <a:prstDash val="solid"/>
            <a:tailEnd type="triangle"/>
          </a:ln>
        </p:spPr>
      </p:sp>
      <p:sp>
        <p:nvSpPr>
          <p:cNvPr id="38" name="Text 35"/>
          <p:cNvSpPr txBox="1"/>
          <p:nvPr/>
        </p:nvSpPr>
        <p:spPr>
          <a:xfrm>
            <a:off x="6263640" y="5833872"/>
            <a:ext cx="5349240" cy="365760"/>
          </a:xfrm>
          <a:prstGeom prst="rect">
            <a:avLst/>
          </a:prstGeom>
          <a:noFill/>
          <a:ln/>
        </p:spPr>
        <p:txBody>
          <a:bodyPr wrap="square" lIns="0" tIns="0" rIns="0" bIns="0" rtlCol="0" anchor="ctr"/>
          <a:lstStyle/>
          <a:p>
            <a:pPr indent="0" marL="0">
              <a:buNone/>
            </a:pPr>
            <a:r>
              <a:rPr lang="en-US" sz="1200" i="1" dirty="0">
                <a:solidFill>
                  <a:schemeClr val="accent5"/>
                </a:solidFill>
              </a:rPr>
              <a:t>Any failure returns one JSON error shape — never a stack trace.</a:t>
            </a:r>
            <a:endParaRPr lang="en-US" sz="1200" dirty="0"/>
          </a:p>
        </p:txBody>
      </p:sp>
      <p:sp>
        <p:nvSpPr>
          <p:cNvPr id="39" name="tag-150"/>
          <p:cNvSpPr txBox="1"/>
          <p:nvPr/>
        </p:nvSpPr>
        <p:spPr>
          <a:xfrm>
            <a:off x="10287000" y="132588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Secure file upload and download</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Documents never leave storage without an authorisation check; no storage key crosses the API boundary</a:t>
            </a:r>
            <a:endParaRPr lang="en-US" sz="1600" dirty="0"/>
          </a:p>
        </p:txBody>
      </p:sp>
      <p:sp>
        <p:nvSpPr>
          <p:cNvPr id="5" name="Text 2"/>
          <p:cNvSpPr txBox="1"/>
          <p:nvPr/>
        </p:nvSpPr>
        <p:spPr>
          <a:xfrm>
            <a:off x="548640" y="1645920"/>
            <a:ext cx="7315200" cy="320040"/>
          </a:xfrm>
          <a:prstGeom prst="rect">
            <a:avLst/>
          </a:prstGeom>
          <a:noFill/>
          <a:ln/>
        </p:spPr>
        <p:txBody>
          <a:bodyPr wrap="square" lIns="0" tIns="0" rIns="0" bIns="0" rtlCol="0" anchor="ctr"/>
          <a:lstStyle/>
          <a:p>
            <a:pPr indent="0" marL="0">
              <a:buNone/>
            </a:pPr>
            <a:r>
              <a:rPr lang="en-US" sz="1500" b="1" dirty="0">
                <a:solidFill>
                  <a:schemeClr val="tx2"/>
                </a:solidFill>
              </a:rPr>
              <a:t>Upload — services/files.save_upload()</a:t>
            </a:r>
            <a:endParaRPr lang="en-US" sz="1500" dirty="0"/>
          </a:p>
        </p:txBody>
      </p:sp>
      <p:sp>
        <p:nvSpPr>
          <p:cNvPr id="6" name="up-151"/>
          <p:cNvSpPr txBox="1"/>
          <p:nvPr/>
        </p:nvSpPr>
        <p:spPr>
          <a:xfrm>
            <a:off x="54864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Type allowlist</a:t>
            </a:r>
            <a:endParaRPr lang="en-US" sz="1400" dirty="0"/>
          </a:p>
          <a:p>
            <a:pPr algn="ctr" indent="0" marL="0">
              <a:buNone/>
            </a:pPr>
            <a:r>
              <a:rPr lang="en-US" sz="1150" dirty="0">
                <a:solidFill>
                  <a:schemeClr val="bg1"/>
                </a:solidFill>
              </a:rPr>
              <a:t>PDF · images · Word · PowerPoint</a:t>
            </a:r>
            <a:endParaRPr lang="en-US" sz="1400" dirty="0"/>
          </a:p>
        </p:txBody>
      </p:sp>
      <p:sp>
        <p:nvSpPr>
          <p:cNvPr id="7" name="arrow-152"/>
          <p:cNvSpPr/>
          <p:nvPr/>
        </p:nvSpPr>
        <p:spPr>
          <a:xfrm>
            <a:off x="2194560" y="2606040"/>
            <a:ext cx="228600" cy="0"/>
          </a:xfrm>
          <a:prstGeom prst="line">
            <a:avLst/>
          </a:prstGeom>
          <a:noFill/>
          <a:ln w="15875">
            <a:solidFill>
              <a:schemeClr val="accent5"/>
            </a:solidFill>
            <a:prstDash val="solid"/>
            <a:tailEnd type="triangle"/>
          </a:ln>
        </p:spPr>
      </p:sp>
      <p:sp>
        <p:nvSpPr>
          <p:cNvPr id="8" name="up-153"/>
          <p:cNvSpPr txBox="1"/>
          <p:nvPr/>
        </p:nvSpPr>
        <p:spPr>
          <a:xfrm>
            <a:off x="242316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Size limit</a:t>
            </a:r>
            <a:endParaRPr lang="en-US" sz="1400" dirty="0"/>
          </a:p>
          <a:p>
            <a:pPr algn="ctr" indent="0" marL="0">
              <a:buNone/>
            </a:pPr>
            <a:r>
              <a:rPr lang="en-US" sz="1150" dirty="0">
                <a:solidFill>
                  <a:schemeClr val="bg1"/>
                </a:solidFill>
              </a:rPr>
              <a:t>≤ 15 MB (configurable)</a:t>
            </a:r>
            <a:endParaRPr lang="en-US" sz="1400" dirty="0"/>
          </a:p>
        </p:txBody>
      </p:sp>
      <p:sp>
        <p:nvSpPr>
          <p:cNvPr id="9" name="arrow-154"/>
          <p:cNvSpPr/>
          <p:nvPr/>
        </p:nvSpPr>
        <p:spPr>
          <a:xfrm>
            <a:off x="4069080" y="2606040"/>
            <a:ext cx="228600" cy="0"/>
          </a:xfrm>
          <a:prstGeom prst="line">
            <a:avLst/>
          </a:prstGeom>
          <a:noFill/>
          <a:ln w="15875">
            <a:solidFill>
              <a:schemeClr val="accent5"/>
            </a:solidFill>
            <a:prstDash val="solid"/>
            <a:tailEnd type="triangle"/>
          </a:ln>
        </p:spPr>
      </p:sp>
      <p:sp>
        <p:nvSpPr>
          <p:cNvPr id="10" name="up-155"/>
          <p:cNvSpPr txBox="1"/>
          <p:nvPr/>
        </p:nvSpPr>
        <p:spPr>
          <a:xfrm>
            <a:off x="429768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Magic bytes</a:t>
            </a:r>
            <a:endParaRPr lang="en-US" sz="1400" dirty="0"/>
          </a:p>
          <a:p>
            <a:pPr algn="ctr" indent="0" marL="0">
              <a:buNone/>
            </a:pPr>
            <a:r>
              <a:rPr lang="en-US" sz="1150" dirty="0">
                <a:solidFill>
                  <a:schemeClr val="bg1"/>
                </a:solidFill>
              </a:rPr>
              <a:t>contents must match declared type</a:t>
            </a:r>
            <a:endParaRPr lang="en-US" sz="1400" dirty="0"/>
          </a:p>
        </p:txBody>
      </p:sp>
      <p:sp>
        <p:nvSpPr>
          <p:cNvPr id="11" name="arrow-156"/>
          <p:cNvSpPr/>
          <p:nvPr/>
        </p:nvSpPr>
        <p:spPr>
          <a:xfrm>
            <a:off x="5943600" y="2606040"/>
            <a:ext cx="228600" cy="0"/>
          </a:xfrm>
          <a:prstGeom prst="line">
            <a:avLst/>
          </a:prstGeom>
          <a:noFill/>
          <a:ln w="15875">
            <a:solidFill>
              <a:schemeClr val="accent5"/>
            </a:solidFill>
            <a:prstDash val="solid"/>
            <a:tailEnd type="triangle"/>
          </a:ln>
        </p:spPr>
      </p:sp>
      <p:sp>
        <p:nvSpPr>
          <p:cNvPr id="12" name="up-157"/>
          <p:cNvSpPr txBox="1"/>
          <p:nvPr/>
        </p:nvSpPr>
        <p:spPr>
          <a:xfrm>
            <a:off x="617220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Sanitise name</a:t>
            </a:r>
            <a:endParaRPr lang="en-US" sz="1400" dirty="0"/>
          </a:p>
          <a:p>
            <a:pPr algn="ctr" indent="0" marL="0">
              <a:buNone/>
            </a:pPr>
            <a:r>
              <a:rPr lang="en-US" sz="1150" dirty="0">
                <a:solidFill>
                  <a:schemeClr val="bg1"/>
                </a:solidFill>
              </a:rPr>
              <a:t>strip paths, quotes, control chars</a:t>
            </a:r>
            <a:endParaRPr lang="en-US" sz="1400" dirty="0"/>
          </a:p>
        </p:txBody>
      </p:sp>
      <p:sp>
        <p:nvSpPr>
          <p:cNvPr id="13" name="arrow-158"/>
          <p:cNvSpPr/>
          <p:nvPr/>
        </p:nvSpPr>
        <p:spPr>
          <a:xfrm>
            <a:off x="7818120" y="2606040"/>
            <a:ext cx="228600" cy="0"/>
          </a:xfrm>
          <a:prstGeom prst="line">
            <a:avLst/>
          </a:prstGeom>
          <a:noFill/>
          <a:ln w="15875">
            <a:solidFill>
              <a:schemeClr val="accent5"/>
            </a:solidFill>
            <a:prstDash val="solid"/>
            <a:tailEnd type="triangle"/>
          </a:ln>
        </p:spPr>
      </p:sp>
      <p:sp>
        <p:nvSpPr>
          <p:cNvPr id="14" name="up-159"/>
          <p:cNvSpPr txBox="1"/>
          <p:nvPr/>
        </p:nvSpPr>
        <p:spPr>
          <a:xfrm>
            <a:off x="804672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Random key</a:t>
            </a:r>
            <a:endParaRPr lang="en-US" sz="1400" dirty="0"/>
          </a:p>
          <a:p>
            <a:pPr algn="ctr" indent="0" marL="0">
              <a:buNone/>
            </a:pPr>
            <a:r>
              <a:rPr lang="en-US" sz="1150" dirty="0">
                <a:solidFill>
                  <a:schemeClr val="bg1"/>
                </a:solidFill>
              </a:rPr>
              <a:t>uuid4 — never user input</a:t>
            </a:r>
            <a:endParaRPr lang="en-US" sz="1400" dirty="0"/>
          </a:p>
        </p:txBody>
      </p:sp>
      <p:sp>
        <p:nvSpPr>
          <p:cNvPr id="15" name="arrow-160"/>
          <p:cNvSpPr/>
          <p:nvPr/>
        </p:nvSpPr>
        <p:spPr>
          <a:xfrm>
            <a:off x="9692640" y="2606040"/>
            <a:ext cx="228600" cy="0"/>
          </a:xfrm>
          <a:prstGeom prst="line">
            <a:avLst/>
          </a:prstGeom>
          <a:noFill/>
          <a:ln w="15875">
            <a:solidFill>
              <a:schemeClr val="accent5"/>
            </a:solidFill>
            <a:prstDash val="solid"/>
            <a:tailEnd type="triangle"/>
          </a:ln>
        </p:spPr>
      </p:sp>
      <p:sp>
        <p:nvSpPr>
          <p:cNvPr id="16" name="up-161"/>
          <p:cNvSpPr txBox="1"/>
          <p:nvPr/>
        </p:nvSpPr>
        <p:spPr>
          <a:xfrm>
            <a:off x="9921240" y="2057400"/>
            <a:ext cx="1645920" cy="1097280"/>
          </a:xfrm>
          <a:prstGeom prst="roundRect">
            <a:avLst>
              <a:gd name="adj" fmla="val 6667"/>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SHA-256</a:t>
            </a:r>
            <a:endParaRPr lang="en-US" sz="1400" dirty="0"/>
          </a:p>
          <a:p>
            <a:pPr algn="ctr" indent="0" marL="0">
              <a:buNone/>
            </a:pPr>
            <a:r>
              <a:rPr lang="en-US" sz="1150" dirty="0">
                <a:solidFill>
                  <a:schemeClr val="bg1"/>
                </a:solidFill>
              </a:rPr>
              <a:t>checksum recorded in files row</a:t>
            </a:r>
            <a:endParaRPr lang="en-US" sz="1400" dirty="0"/>
          </a:p>
        </p:txBody>
      </p:sp>
      <p:sp>
        <p:nvSpPr>
          <p:cNvPr id="17" name="Text 14"/>
          <p:cNvSpPr txBox="1"/>
          <p:nvPr/>
        </p:nvSpPr>
        <p:spPr>
          <a:xfrm>
            <a:off x="548640" y="3429000"/>
            <a:ext cx="7315200" cy="320040"/>
          </a:xfrm>
          <a:prstGeom prst="rect">
            <a:avLst/>
          </a:prstGeom>
          <a:noFill/>
          <a:ln/>
        </p:spPr>
        <p:txBody>
          <a:bodyPr wrap="square" lIns="0" tIns="0" rIns="0" bIns="0" rtlCol="0" anchor="ctr"/>
          <a:lstStyle/>
          <a:p>
            <a:pPr indent="0" marL="0">
              <a:buNone/>
            </a:pPr>
            <a:r>
              <a:rPr lang="en-US" sz="1500" b="1" dirty="0">
                <a:solidFill>
                  <a:schemeClr val="tx2"/>
                </a:solidFill>
              </a:rPr>
              <a:t>Download — GET /files/{id}/download</a:t>
            </a:r>
            <a:endParaRPr lang="en-US" sz="1500" dirty="0"/>
          </a:p>
        </p:txBody>
      </p:sp>
      <p:sp>
        <p:nvSpPr>
          <p:cNvPr id="18" name="dl-162"/>
          <p:cNvSpPr txBox="1"/>
          <p:nvPr/>
        </p:nvSpPr>
        <p:spPr>
          <a:xfrm>
            <a:off x="548640" y="3840480"/>
            <a:ext cx="2103120" cy="1188720"/>
          </a:xfrm>
          <a:prstGeom prst="roundRect">
            <a:avLst>
              <a:gd name="adj" fmla="val 6154"/>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Signed-in caller</a:t>
            </a:r>
            <a:endParaRPr lang="en-US" sz="1400" dirty="0"/>
          </a:p>
          <a:p>
            <a:pPr algn="ctr" indent="0" marL="0">
              <a:buNone/>
            </a:pPr>
            <a:r>
              <a:rPr lang="en-US" sz="1150" dirty="0">
                <a:solidFill>
                  <a:schemeClr val="bg1"/>
                </a:solidFill>
              </a:rPr>
              <a:t>valid access JWT required</a:t>
            </a:r>
            <a:endParaRPr lang="en-US" sz="1400" dirty="0"/>
          </a:p>
        </p:txBody>
      </p:sp>
      <p:sp>
        <p:nvSpPr>
          <p:cNvPr id="19" name="arrow-163"/>
          <p:cNvSpPr/>
          <p:nvPr/>
        </p:nvSpPr>
        <p:spPr>
          <a:xfrm>
            <a:off x="2651760" y="4434840"/>
            <a:ext cx="457200" cy="0"/>
          </a:xfrm>
          <a:prstGeom prst="line">
            <a:avLst/>
          </a:prstGeom>
          <a:noFill/>
          <a:ln w="22225">
            <a:solidFill>
              <a:schemeClr val="accent5"/>
            </a:solidFill>
            <a:prstDash val="solid"/>
            <a:tailEnd type="triangle"/>
          </a:ln>
        </p:spPr>
      </p:sp>
      <p:sp>
        <p:nvSpPr>
          <p:cNvPr id="20" name="diamond-164"/>
          <p:cNvSpPr txBox="1"/>
          <p:nvPr/>
        </p:nvSpPr>
        <p:spPr>
          <a:xfrm>
            <a:off x="3108960" y="3840480"/>
            <a:ext cx="2286000" cy="1188720"/>
          </a:xfrm>
          <a:prstGeom prst="diamond">
            <a:avLst/>
          </a:prstGeom>
          <a:solidFill>
            <a:schemeClr val="bg2"/>
          </a:solidFill>
          <a:ln w="12700">
            <a:solidFill>
              <a:schemeClr val="accent1"/>
            </a:solidFill>
          </a:ln>
        </p:spPr>
        <p:txBody>
          <a:bodyPr wrap="square" lIns="0" tIns="0" rIns="0" bIns="0" rtlCol="0" anchor="ctr"/>
          <a:lstStyle/>
          <a:p>
            <a:pPr algn="ctr" indent="0" marL="0">
              <a:buNone/>
            </a:pPr>
            <a:r>
              <a:rPr lang="en-US" sz="1150" b="1" dirty="0">
                <a:solidFill>
                  <a:schemeClr val="tx2"/>
                </a:solidFill>
              </a:rPr>
              <a:t>Valid HMAC-SHA256 link?</a:t>
            </a:r>
            <a:endParaRPr lang="en-US" sz="1150" dirty="0"/>
          </a:p>
          <a:p>
            <a:pPr algn="ctr" indent="0" marL="0">
              <a:buNone/>
            </a:pPr>
            <a:r>
              <a:rPr lang="en-US" sz="1150" b="1" dirty="0">
                <a:solidFill>
                  <a:schemeClr val="tx2"/>
                </a:solidFill>
              </a:rPr>
              <a:t>(15-min expiry)</a:t>
            </a:r>
            <a:endParaRPr lang="en-US" sz="1150" dirty="0"/>
          </a:p>
        </p:txBody>
      </p:sp>
      <p:sp>
        <p:nvSpPr>
          <p:cNvPr id="21" name="arrow-165"/>
          <p:cNvSpPr/>
          <p:nvPr/>
        </p:nvSpPr>
        <p:spPr>
          <a:xfrm>
            <a:off x="5394960" y="4434840"/>
            <a:ext cx="3520440" cy="0"/>
          </a:xfrm>
          <a:prstGeom prst="line">
            <a:avLst/>
          </a:prstGeom>
          <a:noFill/>
          <a:ln w="22225">
            <a:solidFill>
              <a:schemeClr val="accent2"/>
            </a:solidFill>
            <a:prstDash val="solid"/>
            <a:tailEnd type="triangle"/>
          </a:ln>
        </p:spPr>
      </p:sp>
      <p:sp>
        <p:nvSpPr>
          <p:cNvPr id="22" name="arrowlabel-166"/>
          <p:cNvSpPr txBox="1"/>
          <p:nvPr/>
        </p:nvSpPr>
        <p:spPr>
          <a:xfrm>
            <a:off x="5212080" y="4142232"/>
            <a:ext cx="3886200" cy="274320"/>
          </a:xfrm>
          <a:prstGeom prst="rect">
            <a:avLst/>
          </a:prstGeom>
          <a:noFill/>
          <a:ln/>
        </p:spPr>
        <p:txBody>
          <a:bodyPr wrap="square" lIns="0" tIns="0" rIns="0" bIns="0" rtlCol="0" anchor="ctr"/>
          <a:lstStyle/>
          <a:p>
            <a:pPr algn="ctr" indent="0" marL="0">
              <a:buNone/>
            </a:pPr>
            <a:r>
              <a:rPr lang="en-US" sz="1100" i="1" dirty="0">
                <a:solidFill>
                  <a:schemeClr val="accent2"/>
                </a:solidFill>
              </a:rPr>
              <a:t>yes</a:t>
            </a:r>
            <a:endParaRPr lang="en-US" sz="1100" dirty="0"/>
          </a:p>
        </p:txBody>
      </p:sp>
      <p:sp>
        <p:nvSpPr>
          <p:cNvPr id="23" name="arrow-167"/>
          <p:cNvSpPr/>
          <p:nvPr/>
        </p:nvSpPr>
        <p:spPr>
          <a:xfrm>
            <a:off x="4251960" y="5029200"/>
            <a:ext cx="0" cy="411480"/>
          </a:xfrm>
          <a:prstGeom prst="line">
            <a:avLst/>
          </a:prstGeom>
          <a:noFill/>
          <a:ln w="22225">
            <a:solidFill>
              <a:schemeClr val="accent3"/>
            </a:solidFill>
            <a:prstDash val="solid"/>
            <a:tailEnd type="triangle"/>
          </a:ln>
        </p:spPr>
      </p:sp>
      <p:sp>
        <p:nvSpPr>
          <p:cNvPr id="24" name="Text 21"/>
          <p:cNvSpPr txBox="1"/>
          <p:nvPr/>
        </p:nvSpPr>
        <p:spPr>
          <a:xfrm>
            <a:off x="4343400" y="5029200"/>
            <a:ext cx="457200" cy="274320"/>
          </a:xfrm>
          <a:prstGeom prst="rect">
            <a:avLst/>
          </a:prstGeom>
          <a:noFill/>
          <a:ln/>
        </p:spPr>
        <p:txBody>
          <a:bodyPr wrap="square" lIns="0" tIns="0" rIns="0" bIns="0" rtlCol="0" anchor="ctr"/>
          <a:lstStyle/>
          <a:p>
            <a:pPr indent="0" marL="0">
              <a:buNone/>
            </a:pPr>
            <a:r>
              <a:rPr lang="en-US" sz="1100" i="1" dirty="0">
                <a:solidFill>
                  <a:schemeClr val="accent3"/>
                </a:solidFill>
              </a:rPr>
              <a:t>no</a:t>
            </a:r>
            <a:endParaRPr lang="en-US" sz="1100" dirty="0"/>
          </a:p>
        </p:txBody>
      </p:sp>
      <p:sp>
        <p:nvSpPr>
          <p:cNvPr id="25" name="acl-168"/>
          <p:cNvSpPr txBox="1"/>
          <p:nvPr/>
        </p:nvSpPr>
        <p:spPr>
          <a:xfrm>
            <a:off x="2743200" y="5440680"/>
            <a:ext cx="3017520" cy="777240"/>
          </a:xfrm>
          <a:prstGeom prst="roundRect">
            <a:avLst>
              <a:gd name="adj" fmla="val 9412"/>
            </a:avLst>
          </a:prstGeom>
          <a:solidFill>
            <a:schemeClr val="accent6"/>
          </a:solidFill>
          <a:ln/>
        </p:spPr>
        <p:txBody>
          <a:bodyPr wrap="square" lIns="50800" tIns="50800" rIns="50800" bIns="508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assert_can_read_file()</a:t>
            </a:r>
            <a:endParaRPr lang="en-US" sz="1400" dirty="0"/>
          </a:p>
          <a:p>
            <a:pPr algn="ctr" indent="0" marL="0">
              <a:buNone/>
            </a:pPr>
            <a:r>
              <a:rPr lang="en-US" sz="1100" dirty="0">
                <a:solidFill>
                  <a:schemeClr val="bg1"/>
                </a:solidFill>
              </a:rPr>
              <a:t>owner · mentor · programme coordinator · super admin</a:t>
            </a:r>
            <a:endParaRPr lang="en-US" sz="1400" dirty="0"/>
          </a:p>
        </p:txBody>
      </p:sp>
      <p:sp>
        <p:nvSpPr>
          <p:cNvPr id="26" name="arrow-169"/>
          <p:cNvSpPr/>
          <p:nvPr/>
        </p:nvSpPr>
        <p:spPr>
          <a:xfrm>
            <a:off x="5760720" y="5824728"/>
            <a:ext cx="4206240" cy="0"/>
          </a:xfrm>
          <a:prstGeom prst="line">
            <a:avLst/>
          </a:prstGeom>
          <a:noFill/>
          <a:ln w="22225">
            <a:solidFill>
              <a:schemeClr val="accent2"/>
            </a:solidFill>
            <a:prstDash val="solid"/>
          </a:ln>
        </p:spPr>
      </p:sp>
      <p:sp>
        <p:nvSpPr>
          <p:cNvPr id="27" name="arrow-170"/>
          <p:cNvSpPr/>
          <p:nvPr/>
        </p:nvSpPr>
        <p:spPr>
          <a:xfrm flipV="1">
            <a:off x="9966960" y="5029200"/>
            <a:ext cx="0" cy="795528"/>
          </a:xfrm>
          <a:prstGeom prst="line">
            <a:avLst/>
          </a:prstGeom>
          <a:noFill/>
          <a:ln w="22225">
            <a:solidFill>
              <a:schemeClr val="accent2"/>
            </a:solidFill>
            <a:prstDash val="solid"/>
            <a:tailEnd type="triangle"/>
          </a:ln>
        </p:spPr>
      </p:sp>
      <p:sp>
        <p:nvSpPr>
          <p:cNvPr id="28" name="stream-171"/>
          <p:cNvSpPr txBox="1"/>
          <p:nvPr/>
        </p:nvSpPr>
        <p:spPr>
          <a:xfrm>
            <a:off x="8915400" y="3840480"/>
            <a:ext cx="2697480" cy="1188720"/>
          </a:xfrm>
          <a:prstGeom prst="roundRect">
            <a:avLst>
              <a:gd name="adj" fmla="val 6154"/>
            </a:avLst>
          </a:prstGeom>
          <a:solidFill>
            <a:schemeClr val="accent2"/>
          </a:solidFill>
          <a:ln/>
        </p:spPr>
        <p:txBody>
          <a:bodyPr wrap="square" lIns="50800" tIns="50800" rIns="50800" bIns="50800" rtlCol="0" anchor="ctr"/>
          <a:lstStyle/>
          <a:p>
            <a:pPr algn="ctr" indent="0" marL="0">
              <a:buNone/>
            </a:pPr>
            <a:r>
              <a:rPr lang="en-US" sz="1400" b="1" dirty="0">
                <a:solidFill>
                  <a:schemeClr val="bg1"/>
                </a:solidFill>
              </a:rPr>
              <a:t>Stream bytes</a:t>
            </a:r>
            <a:endParaRPr lang="en-US" sz="1400" dirty="0"/>
          </a:p>
          <a:p>
            <a:pPr algn="ctr" indent="0" marL="0">
              <a:buNone/>
            </a:pPr>
            <a:r>
              <a:rPr lang="en-US" sz="1050" dirty="0">
                <a:solidFill>
                  <a:schemeClr val="bg1"/>
                </a:solidFill>
                <a:latin typeface="Courier New" pitchFamily="34" charset="0"/>
                <a:ea typeface="Courier New" pitchFamily="34" charset="-122"/>
                <a:cs typeface="Courier New" pitchFamily="34" charset="-120"/>
              </a:rPr>
              <a:t>X-Content-Type-Options: nosniff</a:t>
            </a:r>
            <a:endParaRPr lang="en-US" sz="1400" dirty="0"/>
          </a:p>
          <a:p>
            <a:pPr algn="ctr" indent="0" marL="0">
              <a:buNone/>
            </a:pPr>
            <a:r>
              <a:rPr lang="en-US" sz="1050" dirty="0">
                <a:solidFill>
                  <a:schemeClr val="bg1"/>
                </a:solidFill>
                <a:latin typeface="Courier New" pitchFamily="34" charset="0"/>
                <a:ea typeface="Courier New" pitchFamily="34" charset="-122"/>
                <a:cs typeface="Courier New" pitchFamily="34" charset="-120"/>
              </a:rPr>
              <a:t>Cache-Control: private, no-store</a:t>
            </a:r>
            <a:endParaRPr lang="en-US" sz="1400" dirty="0"/>
          </a:p>
        </p:txBody>
      </p:sp>
      <p:sp>
        <p:nvSpPr>
          <p:cNvPr id="29" name="Text 26"/>
          <p:cNvSpPr txBox="1"/>
          <p:nvPr/>
        </p:nvSpPr>
        <p:spPr>
          <a:xfrm>
            <a:off x="6400800" y="5897880"/>
            <a:ext cx="1371600" cy="274320"/>
          </a:xfrm>
          <a:prstGeom prst="rect">
            <a:avLst/>
          </a:prstGeom>
          <a:noFill/>
          <a:ln/>
        </p:spPr>
        <p:txBody>
          <a:bodyPr wrap="square" lIns="0" tIns="0" rIns="0" bIns="0" rtlCol="0" anchor="ctr"/>
          <a:lstStyle/>
          <a:p>
            <a:pPr indent="0" marL="0">
              <a:buNone/>
            </a:pPr>
            <a:r>
              <a:rPr lang="en-US" sz="1100" i="1" dirty="0">
                <a:solidFill>
                  <a:schemeClr val="accent4"/>
                </a:solidFill>
              </a:rPr>
              <a:t>else 403</a:t>
            </a:r>
            <a:endParaRPr lang="en-US" sz="1100" dirty="0"/>
          </a:p>
        </p:txBody>
      </p:sp>
      <p:sp>
        <p:nvSpPr>
          <p:cNvPr id="30" name="tag-172"/>
          <p:cNvSpPr txBox="1"/>
          <p:nvPr/>
        </p:nvSpPr>
        <p:spPr>
          <a:xfrm>
            <a:off x="10287000" y="132588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Other safeguards, and the gaps that remain</a:t>
            </a:r>
            <a:endParaRPr lang="en-US" sz="3400" dirty="0"/>
          </a:p>
        </p:txBody>
      </p:sp>
      <p:sp>
        <p:nvSpPr>
          <p:cNvPr id="3" name="Text 0"/>
          <p:cNvSpPr/>
          <p:nvPr>
            <p:ph idx="101" type="body" hasCustomPrompt="1"/>
          </p:nvPr>
        </p:nvSpPr>
        <p:spPr>
          <a:xfrm>
            <a:off x="548640" y="96012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Left: verified in code and tests. Right: not implemented today — stated plainly</a:t>
            </a:r>
            <a:endParaRPr lang="en-US" sz="1600" dirty="0"/>
          </a:p>
        </p:txBody>
      </p:sp>
      <p:sp>
        <p:nvSpPr>
          <p:cNvPr id="5" name="tag-173"/>
          <p:cNvSpPr txBox="1"/>
          <p:nvPr/>
        </p:nvSpPr>
        <p:spPr>
          <a:xfrm>
            <a:off x="548640" y="1645920"/>
            <a:ext cx="13258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IMPLEMENTED</a:t>
            </a:r>
            <a:endParaRPr lang="en-US" sz="1000" dirty="0"/>
          </a:p>
        </p:txBody>
      </p:sp>
      <p:pic>
        <p:nvPicPr>
          <p:cNvPr id="6" name="chk-174" descr="preencoded.png">    </p:cNvPr>
          <p:cNvPicPr>
            <a:picLocks noChangeAspect="1"/>
          </p:cNvPicPr>
          <p:nvPr/>
        </p:nvPicPr>
        <p:blipFill>
          <a:blip r:embed="rId1"/>
          <a:stretch>
            <a:fillRect/>
          </a:stretch>
        </p:blipFill>
        <p:spPr>
          <a:xfrm>
            <a:off x="548640" y="2121408"/>
            <a:ext cx="274320" cy="274320"/>
          </a:xfrm>
          <a:prstGeom prst="rect">
            <a:avLst/>
          </a:prstGeom>
        </p:spPr>
      </p:pic>
      <p:sp>
        <p:nvSpPr>
          <p:cNvPr id="7" name="Text 3"/>
          <p:cNvSpPr txBox="1"/>
          <p:nvPr/>
        </p:nvSpPr>
        <p:spPr>
          <a:xfrm>
            <a:off x="960120" y="2057400"/>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Transactional audit trail  </a:t>
            </a:r>
            <a:pPr indent="0" marL="0">
              <a:buNone/>
            </a:pPr>
            <a:r>
              <a:rPr lang="en-US" sz="1200" dirty="0">
                <a:solidFill>
                  <a:schemeClr val="tx1"/>
                </a:solidFill>
              </a:rPr>
              <a:t>audit row commits or rolls back with the change</a:t>
            </a:r>
            <a:endParaRPr lang="en-US" sz="1300" dirty="0"/>
          </a:p>
        </p:txBody>
      </p:sp>
      <p:pic>
        <p:nvPicPr>
          <p:cNvPr id="8" name="chk-175" descr="preencoded.png">    </p:cNvPr>
          <p:cNvPicPr>
            <a:picLocks noChangeAspect="1"/>
          </p:cNvPicPr>
          <p:nvPr/>
        </p:nvPicPr>
        <p:blipFill>
          <a:blip r:embed="rId2"/>
          <a:stretch>
            <a:fillRect/>
          </a:stretch>
        </p:blipFill>
        <p:spPr>
          <a:xfrm>
            <a:off x="548640" y="2642616"/>
            <a:ext cx="274320" cy="274320"/>
          </a:xfrm>
          <a:prstGeom prst="rect">
            <a:avLst/>
          </a:prstGeom>
        </p:spPr>
      </p:pic>
      <p:sp>
        <p:nvSpPr>
          <p:cNvPr id="9" name="Text 4"/>
          <p:cNvSpPr txBox="1"/>
          <p:nvPr/>
        </p:nvSpPr>
        <p:spPr>
          <a:xfrm>
            <a:off x="960120" y="2578608"/>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Uniform error envelope  </a:t>
            </a:r>
            <a:pPr indent="0" marL="0">
              <a:buNone/>
            </a:pPr>
            <a:r>
              <a:rPr lang="en-US" sz="1200" dirty="0">
                <a:solidFill>
                  <a:schemeClr val="tx1"/>
                </a:solidFill>
              </a:rPr>
              <a:t>clean 404s, no stack traces (tested)</a:t>
            </a:r>
            <a:endParaRPr lang="en-US" sz="1300" dirty="0"/>
          </a:p>
        </p:txBody>
      </p:sp>
      <p:pic>
        <p:nvPicPr>
          <p:cNvPr id="10" name="chk-176" descr="preencoded.png">    </p:cNvPr>
          <p:cNvPicPr>
            <a:picLocks noChangeAspect="1"/>
          </p:cNvPicPr>
          <p:nvPr/>
        </p:nvPicPr>
        <p:blipFill>
          <a:blip r:embed="rId3"/>
          <a:stretch>
            <a:fillRect/>
          </a:stretch>
        </p:blipFill>
        <p:spPr>
          <a:xfrm>
            <a:off x="548640" y="3163824"/>
            <a:ext cx="274320" cy="274320"/>
          </a:xfrm>
          <a:prstGeom prst="rect">
            <a:avLst/>
          </a:prstGeom>
        </p:spPr>
      </p:pic>
      <p:sp>
        <p:nvSpPr>
          <p:cNvPr id="11" name="Text 5"/>
          <p:cNvSpPr txBox="1"/>
          <p:nvPr/>
        </p:nvSpPr>
        <p:spPr>
          <a:xfrm>
            <a:off x="960120" y="3099816"/>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No account enumeration  </a:t>
            </a:r>
            <a:pPr indent="0" marL="0">
              <a:buNone/>
            </a:pPr>
            <a:r>
              <a:rPr lang="en-US" sz="1200" dirty="0">
                <a:solidFill>
                  <a:schemeClr val="tx1"/>
                </a:solidFill>
              </a:rPr>
              <a:t>identical login error (tested)</a:t>
            </a:r>
            <a:endParaRPr lang="en-US" sz="1300" dirty="0"/>
          </a:p>
        </p:txBody>
      </p:sp>
      <p:pic>
        <p:nvPicPr>
          <p:cNvPr id="12" name="chk-177" descr="preencoded.png">    </p:cNvPr>
          <p:cNvPicPr>
            <a:picLocks noChangeAspect="1"/>
          </p:cNvPicPr>
          <p:nvPr/>
        </p:nvPicPr>
        <p:blipFill>
          <a:blip r:embed="rId4"/>
          <a:stretch>
            <a:fillRect/>
          </a:stretch>
        </p:blipFill>
        <p:spPr>
          <a:xfrm>
            <a:off x="548640" y="3685032"/>
            <a:ext cx="274320" cy="274320"/>
          </a:xfrm>
          <a:prstGeom prst="rect">
            <a:avLst/>
          </a:prstGeom>
        </p:spPr>
      </p:pic>
      <p:sp>
        <p:nvSpPr>
          <p:cNvPr id="13" name="Text 6"/>
          <p:cNvSpPr txBox="1"/>
          <p:nvPr/>
        </p:nvSpPr>
        <p:spPr>
          <a:xfrm>
            <a:off x="960120" y="3621024"/>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Mass-assignment safe  </a:t>
            </a:r>
            <a:pPr indent="0" marL="0">
              <a:buNone/>
            </a:pPr>
            <a:r>
              <a:rPr lang="en-US" sz="1200" dirty="0">
                <a:solidFill>
                  <a:schemeClr val="tx1"/>
                </a:solidFill>
              </a:rPr>
              <a:t>Pydantic schemas; students can't set cpi or semester (tested)</a:t>
            </a:r>
            <a:endParaRPr lang="en-US" sz="1300" dirty="0"/>
          </a:p>
        </p:txBody>
      </p:sp>
      <p:pic>
        <p:nvPicPr>
          <p:cNvPr id="14" name="chk-178" descr="preencoded.png">    </p:cNvPr>
          <p:cNvPicPr>
            <a:picLocks noChangeAspect="1"/>
          </p:cNvPicPr>
          <p:nvPr/>
        </p:nvPicPr>
        <p:blipFill>
          <a:blip r:embed="rId5"/>
          <a:stretch>
            <a:fillRect/>
          </a:stretch>
        </p:blipFill>
        <p:spPr>
          <a:xfrm>
            <a:off x="548640" y="4206240"/>
            <a:ext cx="274320" cy="274320"/>
          </a:xfrm>
          <a:prstGeom prst="rect">
            <a:avLst/>
          </a:prstGeom>
        </p:spPr>
      </p:pic>
      <p:sp>
        <p:nvSpPr>
          <p:cNvPr id="15" name="Text 7"/>
          <p:cNvSpPr txBox="1"/>
          <p:nvPr/>
        </p:nvSpPr>
        <p:spPr>
          <a:xfrm>
            <a:off x="960120" y="4142232"/>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SQL-injection safe  </a:t>
            </a:r>
            <a:pPr indent="0" marL="0">
              <a:buNone/>
            </a:pPr>
            <a:r>
              <a:rPr lang="en-US" sz="1200" dirty="0">
                <a:solidFill>
                  <a:schemeClr val="tx1"/>
                </a:solidFill>
              </a:rPr>
              <a:t>SQLAlchemy bound parameters (tested)</a:t>
            </a:r>
            <a:endParaRPr lang="en-US" sz="1300" dirty="0"/>
          </a:p>
        </p:txBody>
      </p:sp>
      <p:pic>
        <p:nvPicPr>
          <p:cNvPr id="16" name="chk-179" descr="preencoded.png">    </p:cNvPr>
          <p:cNvPicPr>
            <a:picLocks noChangeAspect="1"/>
          </p:cNvPicPr>
          <p:nvPr/>
        </p:nvPicPr>
        <p:blipFill>
          <a:blip r:embed="rId6"/>
          <a:stretch>
            <a:fillRect/>
          </a:stretch>
        </p:blipFill>
        <p:spPr>
          <a:xfrm>
            <a:off x="548640" y="4727448"/>
            <a:ext cx="274320" cy="274320"/>
          </a:xfrm>
          <a:prstGeom prst="rect">
            <a:avLst/>
          </a:prstGeom>
        </p:spPr>
      </p:pic>
      <p:sp>
        <p:nvSpPr>
          <p:cNvPr id="17" name="Text 8"/>
          <p:cNvSpPr txBox="1"/>
          <p:nvPr/>
        </p:nvSpPr>
        <p:spPr>
          <a:xfrm>
            <a:off x="960120" y="4663440"/>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Token-type separation  </a:t>
            </a:r>
            <a:pPr indent="0" marL="0">
              <a:buNone/>
            </a:pPr>
            <a:r>
              <a:rPr lang="en-US" sz="1200" dirty="0">
                <a:solidFill>
                  <a:schemeClr val="tx1"/>
                </a:solidFill>
              </a:rPr>
              <a:t>refresh ≠ access; hash never returned (tested)</a:t>
            </a:r>
            <a:endParaRPr lang="en-US" sz="1300" dirty="0"/>
          </a:p>
        </p:txBody>
      </p:sp>
      <p:pic>
        <p:nvPicPr>
          <p:cNvPr id="18" name="chk-180" descr="preencoded.png">    </p:cNvPr>
          <p:cNvPicPr>
            <a:picLocks noChangeAspect="1"/>
          </p:cNvPicPr>
          <p:nvPr/>
        </p:nvPicPr>
        <p:blipFill>
          <a:blip r:embed="rId7"/>
          <a:stretch>
            <a:fillRect/>
          </a:stretch>
        </p:blipFill>
        <p:spPr>
          <a:xfrm>
            <a:off x="548640" y="5248656"/>
            <a:ext cx="274320" cy="274320"/>
          </a:xfrm>
          <a:prstGeom prst="rect">
            <a:avLst/>
          </a:prstGeom>
        </p:spPr>
      </p:pic>
      <p:sp>
        <p:nvSpPr>
          <p:cNvPr id="19" name="Text 9"/>
          <p:cNvSpPr txBox="1"/>
          <p:nvPr/>
        </p:nvSpPr>
        <p:spPr>
          <a:xfrm>
            <a:off x="960120" y="5184648"/>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Secrets from environment  </a:t>
            </a:r>
            <a:pPr indent="0" marL="0">
              <a:buNone/>
            </a:pPr>
            <a:r>
              <a:rPr lang="en-US" sz="1200" dirty="0">
                <a:solidFill>
                  <a:schemeClr val="tx1"/>
                </a:solidFill>
              </a:rPr>
              <a:t>.env git-ignored; CORS allowlist</a:t>
            </a:r>
            <a:endParaRPr lang="en-US" sz="1300" dirty="0"/>
          </a:p>
        </p:txBody>
      </p:sp>
      <p:pic>
        <p:nvPicPr>
          <p:cNvPr id="20" name="chk-181" descr="preencoded.png">    </p:cNvPr>
          <p:cNvPicPr>
            <a:picLocks noChangeAspect="1"/>
          </p:cNvPicPr>
          <p:nvPr/>
        </p:nvPicPr>
        <p:blipFill>
          <a:blip r:embed="rId8"/>
          <a:stretch>
            <a:fillRect/>
          </a:stretch>
        </p:blipFill>
        <p:spPr>
          <a:xfrm>
            <a:off x="548640" y="5769864"/>
            <a:ext cx="274320" cy="274320"/>
          </a:xfrm>
          <a:prstGeom prst="rect">
            <a:avLst/>
          </a:prstGeom>
        </p:spPr>
      </p:pic>
      <p:sp>
        <p:nvSpPr>
          <p:cNvPr id="21" name="Text 10"/>
          <p:cNvSpPr txBox="1"/>
          <p:nvPr/>
        </p:nvSpPr>
        <p:spPr>
          <a:xfrm>
            <a:off x="960120" y="5705856"/>
            <a:ext cx="4343400" cy="438912"/>
          </a:xfrm>
          <a:prstGeom prst="rect">
            <a:avLst/>
          </a:prstGeom>
          <a:noFill/>
          <a:ln/>
        </p:spPr>
        <p:txBody>
          <a:bodyPr wrap="square" lIns="0" tIns="0" rIns="0" bIns="0" rtlCol="0" anchor="ctr"/>
          <a:lstStyle/>
          <a:p>
            <a:pPr indent="0" marL="0">
              <a:buNone/>
            </a:pPr>
            <a:r>
              <a:rPr lang="en-US" sz="1300" b="1" dirty="0">
                <a:solidFill>
                  <a:schemeClr val="tx2"/>
                </a:solidFill>
              </a:rPr>
              <a:t>59 security tests  </a:t>
            </a:r>
            <a:pPr indent="0" marL="0">
              <a:buNone/>
            </a:pPr>
            <a:r>
              <a:rPr lang="en-US" sz="1200" dirty="0">
                <a:solidFill>
                  <a:schemeClr val="tx1"/>
                </a:solidFill>
              </a:rPr>
              <a:t>API 23 · files 16 · RBAC 12 · JWT/hashing 8</a:t>
            </a:r>
            <a:endParaRPr lang="en-US" sz="1300" dirty="0"/>
          </a:p>
        </p:txBody>
      </p:sp>
      <p:sp>
        <p:nvSpPr>
          <p:cNvPr id="22" name="tag-182"/>
          <p:cNvSpPr txBox="1"/>
          <p:nvPr/>
        </p:nvSpPr>
        <p:spPr>
          <a:xfrm>
            <a:off x="5577840" y="1645920"/>
            <a:ext cx="1737360" cy="256032"/>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spc="100" kern="0" dirty="0">
                <a:solidFill>
                  <a:schemeClr val="bg1"/>
                </a:solidFill>
              </a:rPr>
              <a:t>NOT IMPLEMENTED</a:t>
            </a:r>
            <a:endParaRPr lang="en-US" sz="1000" dirty="0"/>
          </a:p>
        </p:txBody>
      </p:sp>
      <p:graphicFrame>
        <p:nvGraphicFramePr>
          <p:cNvPr id="12" name="gap-table-183"/>
          <p:cNvGraphicFramePr>
            <a:graphicFrameLocks noGrp="1"/>
          </p:cNvGraphicFramePr>
          <p:nvPr>
            <p:extLst>
              <p:ext uri="{D42A27DB-BD31-4B8C-83A1-F6EECF244321}">
                <p14:modId xmlns:p14="http://schemas.microsoft.com/office/powerpoint/2010/main" val="1579011935"/>
              </p:ext>
            </p:extLst>
          </p:nvPr>
        </p:nvGraphicFramePr>
        <p:xfrm>
          <a:off x="5577840" y="2057400"/>
          <a:ext cx="6035040" cy="914400"/>
        </p:xfrm>
        <a:graphic>
          <a:graphicData uri="http://schemas.openxmlformats.org/drawingml/2006/table">
            <a:tbl>
              <a:tblPr/>
              <a:tblGrid>
                <a:gridCol w="1874520"/>
                <a:gridCol w="3200400"/>
                <a:gridCol w="960120"/>
              </a:tblGrid>
              <a:tr h="457200">
                <a:tc>
                  <a:txBody>
                    <a:bodyPr/>
                    <a:lstStyle/>
                    <a:p>
                      <a:pPr indent="0" marL="0">
                        <a:buNone/>
                      </a:pPr>
                      <a:r>
                        <a:rPr lang="en-US" sz="1200" b="1" dirty="0">
                          <a:solidFill>
                            <a:schemeClr val="bg1"/>
                          </a:solidFill>
                        </a:rPr>
                        <a:t>Missing control</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bg1"/>
                          </a:solidFill>
                        </a:rPr>
                        <a:t>Current state in code</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4"/>
                    </a:solidFill>
                  </a:tcPr>
                </a:tc>
                <a:tc>
                  <a:txBody>
                    <a:bodyPr/>
                    <a:lstStyle/>
                    <a:p>
                      <a:pPr indent="0" marL="0">
                        <a:buNone/>
                      </a:pPr>
                      <a:r>
                        <a:rPr lang="en-US" sz="1200" b="1" dirty="0">
                          <a:solidFill>
                            <a:schemeClr val="bg1"/>
                          </a:solidFill>
                        </a:rPr>
                        <a:t>Status</a:t>
                      </a:r>
                      <a:endParaRPr lang="en-US" sz="12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4"/>
                    </a:solidFill>
                  </a:tcPr>
                </a:tc>
              </a:tr>
              <a:tr h="457200">
                <a:tc>
                  <a:txBody>
                    <a:bodyPr/>
                    <a:lstStyle/>
                    <a:p>
                      <a:pPr indent="0" marL="0">
                        <a:buNone/>
                      </a:pPr>
                      <a:r>
                        <a:rPr lang="en-US" sz="1150" b="1" dirty="0">
                          <a:solidFill>
                            <a:schemeClr val="tx1"/>
                          </a:solidFill>
                        </a:rPr>
                        <a:t>Login rate limiting</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Nothing throttles /auth/login attempts</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rPr>
                        <a:t>Planned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Malware scanning</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Type, size, magic bytes checked; content not scanned</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rPr>
                        <a:t>Planned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Password policy &amp; reset</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Min length 8 on change only; no reset flow</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rPr>
                        <a:t>Planned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Session revocation</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Logout is client-side; JWT valid until expiry</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rPr>
                        <a:t>Planned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SSO / MFA</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Email + password only</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3"/>
                          </a:solidFill>
                        </a:rPr>
                        <a:t>Planned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Token storage</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Tokens in localStorage (exposed to XSS)</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5"/>
                          </a:solidFill>
                        </a:rPr>
                        <a:t>Suggested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HTTP security headers</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nginx sets no CSP / HSTS / frame options</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5"/>
                          </a:solidFill>
                        </a:rPr>
                        <a:t>Suggested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1"/>
                          </a:solidFill>
                        </a:rPr>
                        <a:t>Default secret</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SECRET_KEY has a dev placeholder default</a:t>
                      </a:r>
                      <a:endParaRPr lang="en-US" sz="115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5"/>
                          </a:solidFill>
                        </a:rPr>
                        <a:t>Suggested</a:t>
                      </a:r>
                      <a:endParaRPr lang="en-US" sz="11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ampusHub">
  <a:themeElements>
    <a:clrScheme name="CampusHub">
      <a:dk1>
        <a:srgbClr val="0F172A"/>
      </a:dk1>
      <a:lt1>
        <a:srgbClr val="FFFFFF"/>
      </a:lt1>
      <a:dk2>
        <a:srgbClr val="1E3A5F"/>
      </a:dk2>
      <a:lt2>
        <a:srgbClr val="EEF2F7"/>
      </a:lt2>
      <a:accent1>
        <a:srgbClr val="2563EB"/>
      </a:accent1>
      <a:accent2>
        <a:srgbClr val="15803D"/>
      </a:accent2>
      <a:accent3>
        <a:srgbClr val="B45309"/>
      </a:accent3>
      <a:accent4>
        <a:srgbClr val="B91C1C"/>
      </a:accent4>
      <a:accent5>
        <a:srgbClr val="64748B"/>
      </a:accent5>
      <a:accent6>
        <a:srgbClr val="0E7490"/>
      </a:accent6>
      <a:hlink>
        <a:srgbClr val="2563EB"/>
      </a:hlink>
      <a:folHlink>
        <a:srgbClr val="1E3A5F"/>
      </a:folHlink>
    </a:clrScheme>
    <a:fontScheme name="CampusHu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CampusHub — Mid-Evaluation</dc:title>
  <dc:subject>PptxGenJS Presentation</dc:subject>
  <dc:creator>CampusHub team</dc:creator>
  <cp:lastModifiedBy>CampusHub team</cp:lastModifiedBy>
  <cp:revision>1</cp:revision>
  <dcterms:created xsi:type="dcterms:W3CDTF">2026-10-09T06:51:59Z</dcterms:created>
  <dcterms:modified xsi:type="dcterms:W3CDTF">2026-10-09T06:51:59Z</dcterms:modified>
</cp:coreProperties>
</file>